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2a8160e7e724792" /><Relationship Type="http://schemas.openxmlformats.org/officeDocument/2006/relationships/extended-properties" Target="/docProps/app.xml" Id="Rfbe11cf4761e4ed9" /><Relationship Type="http://schemas.openxmlformats.org/officeDocument/2006/relationships/officeDocument" Target="/ppt/presentation.xml" Id="Rdf5e0a5dd6004ce5" /></Relationships>
</file>

<file path=ppt/presentation.xml><?xml version="1.0" encoding="utf-8"?>
<p:presentation xmlns:p="http://schemas.openxmlformats.org/presentationml/2006/main">
  <p:sldMasterIdLst>
    <p:sldMasterId xmlns:r="http://schemas.openxmlformats.org/officeDocument/2006/relationships" id="2147483648" r:id="Ra291f7459a6d41c3"/>
  </p:sldMasterIdLst>
  <p:notesMasterIdLst>
    <p:notesMasterId xmlns:r="http://schemas.openxmlformats.org/officeDocument/2006/relationships" r:id="Re303355f5195426f"/>
  </p:notesMasterIdLst>
  <p:sldIdLst>
    <p:sldId xmlns:r="http://schemas.openxmlformats.org/officeDocument/2006/relationships" id="256" r:id="R8eb285e3e0404fd8"/>
    <p:sldId xmlns:r="http://schemas.openxmlformats.org/officeDocument/2006/relationships" id="257" r:id="R2dfd290b4ea84ab7"/>
    <p:sldId xmlns:r="http://schemas.openxmlformats.org/officeDocument/2006/relationships" id="258" r:id="R8630e1b47d774144"/>
    <p:sldId xmlns:r="http://schemas.openxmlformats.org/officeDocument/2006/relationships" id="259" r:id="R29af602429de4a4f"/>
    <p:sldId xmlns:r="http://schemas.openxmlformats.org/officeDocument/2006/relationships" id="260" r:id="R84ade014e1d74df2"/>
    <p:sldId xmlns:r="http://schemas.openxmlformats.org/officeDocument/2006/relationships" id="261" r:id="Ra2b67ca5f4fa4257"/>
    <p:sldId xmlns:r="http://schemas.openxmlformats.org/officeDocument/2006/relationships" id="262" r:id="Rb0ed77f94c584997"/>
    <p:sldId xmlns:r="http://schemas.openxmlformats.org/officeDocument/2006/relationships" id="263" r:id="R06e59f1e6ed84f5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337d0b05034bf7" /><Relationship Type="http://schemas.openxmlformats.org/officeDocument/2006/relationships/slideMaster" Target="/ppt/slideMasters/slideMaster1.xml" Id="Ra291f7459a6d41c3" /><Relationship Type="http://schemas.openxmlformats.org/officeDocument/2006/relationships/notesMaster" Target="/ppt/notesMasters/notesMaster1.xml" Id="Re303355f5195426f" /><Relationship Type="http://schemas.openxmlformats.org/officeDocument/2006/relationships/presProps" Target="/ppt/presProps.xml" Id="R05aac0a3274b49ca" /><Relationship Type="http://schemas.openxmlformats.org/officeDocument/2006/relationships/tableStyles" Target="/ppt/tableStyles.xml" Id="Rdc17c3cb825f494c" /><Relationship Type="http://schemas.openxmlformats.org/officeDocument/2006/relationships/slide" Target="/ppt/slides/slide1.xml" Id="R8eb285e3e0404fd8" /><Relationship Type="http://schemas.openxmlformats.org/officeDocument/2006/relationships/slide" Target="/ppt/slides/slide2.xml" Id="R2dfd290b4ea84ab7" /><Relationship Type="http://schemas.openxmlformats.org/officeDocument/2006/relationships/slide" Target="/ppt/slides/slide3.xml" Id="R8630e1b47d774144" /><Relationship Type="http://schemas.openxmlformats.org/officeDocument/2006/relationships/slide" Target="/ppt/slides/slide4.xml" Id="R29af602429de4a4f" /><Relationship Type="http://schemas.openxmlformats.org/officeDocument/2006/relationships/slide" Target="/ppt/slides/slide5.xml" Id="R84ade014e1d74df2" /><Relationship Type="http://schemas.openxmlformats.org/officeDocument/2006/relationships/slide" Target="/ppt/slides/slide6.xml" Id="Ra2b67ca5f4fa4257" /><Relationship Type="http://schemas.openxmlformats.org/officeDocument/2006/relationships/slide" Target="/ppt/slides/slide7.xml" Id="Rb0ed77f94c584997" /><Relationship Type="http://schemas.openxmlformats.org/officeDocument/2006/relationships/slide" Target="/ppt/slides/slide8.xml" Id="R06e59f1e6ed84f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c70af6370941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71a9159dd24faf" /><Relationship Type="http://schemas.openxmlformats.org/officeDocument/2006/relationships/notesMaster" Target="/ppt/notesMasters/notesMaster1.xml" Id="Rc1720075989d47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8d9bac8d184f4a" /><Relationship Type="http://schemas.openxmlformats.org/officeDocument/2006/relationships/notesMaster" Target="/ppt/notesMasters/notesMaster1.xml" Id="R78d4cd841e5249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4ee8c429274502" /><Relationship Type="http://schemas.openxmlformats.org/officeDocument/2006/relationships/notesMaster" Target="/ppt/notesMasters/notesMaster1.xml" Id="R35779c7ef7e047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a6b08696a14308" /><Relationship Type="http://schemas.openxmlformats.org/officeDocument/2006/relationships/notesMaster" Target="/ppt/notesMasters/notesMaster1.xml" Id="Rfe014c05a0034c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7b48d3470d42a4" /><Relationship Type="http://schemas.openxmlformats.org/officeDocument/2006/relationships/notesMaster" Target="/ppt/notesMasters/notesMaster1.xml" Id="Rd38d8fd491f74d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4d8aeffbc74dda" /><Relationship Type="http://schemas.openxmlformats.org/officeDocument/2006/relationships/notesMaster" Target="/ppt/notesMasters/notesMaster1.xml" Id="R7fd8df581dc346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3cf55c4fa624324" /><Relationship Type="http://schemas.openxmlformats.org/officeDocument/2006/relationships/notesMaster" Target="/ppt/notesMasters/notesMaster1.xml" Id="Rbcf8c8fc9eaf41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2d6d29b52e46a7" /><Relationship Type="http://schemas.openxmlformats.org/officeDocument/2006/relationships/notesMaster" Target="/ppt/notesMasters/notesMaster1.xml" Id="R555852d426924d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A receipt is easy to read. The dangerous part is turning it into money. FINALTab refuses to call a settlement complete until execution and independent proof agree.</a:t>
            </a:r>
          </a:p>
          <a:p xmlns:a="http://schemas.openxmlformats.org/drawingml/2006/main">
            <a:r>
              <a:t/>
            </a:r>
          </a:p>
          <a:p xmlns:a="http://schemas.openxmlformats.org/drawingml/2006/main">
            <a:r>
              <a:t>[Sources]</a:t>
            </a:r>
          </a:p>
          <a:p xmlns:a="http://schemas.openxmlformats.org/drawingml/2006/main">
            <a:r>
              <a:t>- First-party release captures: video/finaltab-winner/assets/capture-v3</a:t>
            </a:r>
          </a:p>
          <a:p xmlns:a="http://schemas.openxmlformats.org/drawingml/2006/main">
            <a:r>
              <a:t>- Live product: https://finaltab.vercel.app/</a:t>
            </a:r>
          </a:p>
          <a:p xmlns:a="http://schemas.openxmlformats.org/drawingml/2006/main">
            <a:r>
              <a:t>- Repository: https://github.com/vaibhav4046/finaltab</a:t>
            </a:r>
          </a:p>
          <a:p xmlns:a="http://schemas.openxmlformats.org/drawingml/2006/main">
            <a:r>
              <a:t>- Retained transaction: https://sepolia.basescan.org/tx/0x7a6fb760f691954a41c71d5d508629c58aa09207bba0de4eaf164f097c59a789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complex film input. The model proposes structure; largest-remainder allocation makes the total exact. No floating-point arithmetic touches balances.</a:t>
            </a:r>
          </a:p>
          <a:p xmlns:a="http://schemas.openxmlformats.org/drawingml/2006/main">
            <a:r>
              <a:t/>
            </a:r>
          </a:p>
          <a:p xmlns:a="http://schemas.openxmlformats.org/drawingml/2006/main">
            <a:r>
              <a:t>[Sources]</a:t>
            </a:r>
          </a:p>
          <a:p xmlns:a="http://schemas.openxmlformats.org/drawingml/2006/main">
            <a:r>
              <a:t>- First-party release captures: video/finaltab-winner/assets/capture-v3</a:t>
            </a:r>
          </a:p>
          <a:p xmlns:a="http://schemas.openxmlformats.org/drawingml/2006/main">
            <a:r>
              <a:t>- Live product: https://finaltab.vercel.app/</a:t>
            </a:r>
          </a:p>
          <a:p xmlns:a="http://schemas.openxmlformats.org/drawingml/2006/main">
            <a:r>
              <a:t>- Repository: https://github.com/vaibhav4046/finaltab</a:t>
            </a:r>
          </a:p>
          <a:p xmlns:a="http://schemas.openxmlformats.org/drawingml/2006/main">
            <a:r>
              <a:t>- Retained transaction: https://sepolia.basescan.org/tx/0x7a6fb760f691954a41c71d5d508629c58aa09207bba0de4eaf164f097c59a789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Freeze binds the complete plan. Each debtor signs USDC authorization and FINALTab SettlementConsent in an external wallet. The server does not custody arbitrary participant keys.</a:t>
            </a:r>
          </a:p>
          <a:p xmlns:a="http://schemas.openxmlformats.org/drawingml/2006/main">
            <a:r>
              <a:t/>
            </a:r>
          </a:p>
          <a:p xmlns:a="http://schemas.openxmlformats.org/drawingml/2006/main">
            <a:r>
              <a:t>[Sources]</a:t>
            </a:r>
          </a:p>
          <a:p xmlns:a="http://schemas.openxmlformats.org/drawingml/2006/main">
            <a:r>
              <a:t>- First-party release captures: video/finaltab-winner/assets/capture-v3</a:t>
            </a:r>
          </a:p>
          <a:p xmlns:a="http://schemas.openxmlformats.org/drawingml/2006/main">
            <a:r>
              <a:t>- Live product: https://finaltab.vercel.app/</a:t>
            </a:r>
          </a:p>
          <a:p xmlns:a="http://schemas.openxmlformats.org/drawingml/2006/main">
            <a:r>
              <a:t>- Repository: https://github.com/vaibhav4046/finaltab</a:t>
            </a:r>
          </a:p>
          <a:p xmlns:a="http://schemas.openxmlformats.org/drawingml/2006/main">
            <a:r>
              <a:t>- Retained transaction: https://sepolia.basescan.org/tx/0x7a6fb760f691954a41c71d5d508629c58aa09207bba0de4eaf164f097c59a789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actual product capture. Every graph node derives from a loaded run input, recorded stage event, real evidence or active bounded memory record. Missing evidence stays missing.</a:t>
            </a:r>
          </a:p>
          <a:p xmlns:a="http://schemas.openxmlformats.org/drawingml/2006/main">
            <a:r>
              <a:t/>
            </a:r>
          </a:p>
          <a:p xmlns:a="http://schemas.openxmlformats.org/drawingml/2006/main">
            <a:r>
              <a:t>[Sources]</a:t>
            </a:r>
          </a:p>
          <a:p xmlns:a="http://schemas.openxmlformats.org/drawingml/2006/main">
            <a:r>
              <a:t>- First-party release captures: video/finaltab-winner/assets/capture-v3</a:t>
            </a:r>
          </a:p>
          <a:p xmlns:a="http://schemas.openxmlformats.org/drawingml/2006/main">
            <a:r>
              <a:t>- Live product: https://finaltab.vercel.app/</a:t>
            </a:r>
          </a:p>
          <a:p xmlns:a="http://schemas.openxmlformats.org/drawingml/2006/main">
            <a:r>
              <a:t>- Repository: https://github.com/vaibhav4046/finaltab</a:t>
            </a:r>
          </a:p>
          <a:p xmlns:a="http://schemas.openxmlformats.org/drawingml/2006/main">
            <a:r>
              <a:t>- Retained transaction: https://sepolia.basescan.org/tx/0x7a6fb760f691954a41c71d5d508629c58aa09207bba0de4eaf164f097c59a789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climax. KeeperHub reported a verified successful receipt, then FINALTab independently fetched Base Sepolia and matched the exact indexed SettlementExecuted event, settlement ID and ledger hash. The retained run is separate from the film's MCP trace.</a:t>
            </a:r>
          </a:p>
          <a:p xmlns:a="http://schemas.openxmlformats.org/drawingml/2006/main">
            <a:r>
              <a:t/>
            </a:r>
          </a:p>
          <a:p xmlns:a="http://schemas.openxmlformats.org/drawingml/2006/main">
            <a:r>
              <a:t>[Sources]</a:t>
            </a:r>
          </a:p>
          <a:p xmlns:a="http://schemas.openxmlformats.org/drawingml/2006/main">
            <a:r>
              <a:t>- First-party release captures: video/finaltab-winner/assets/capture-v3</a:t>
            </a:r>
          </a:p>
          <a:p xmlns:a="http://schemas.openxmlformats.org/drawingml/2006/main">
            <a:r>
              <a:t>- Live product: https://finaltab.vercel.app/</a:t>
            </a:r>
          </a:p>
          <a:p xmlns:a="http://schemas.openxmlformats.org/drawingml/2006/main">
            <a:r>
              <a:t>- Repository: https://github.com/vaibhav4046/finaltab</a:t>
            </a:r>
          </a:p>
          <a:p xmlns:a="http://schemas.openxmlformats.org/drawingml/2006/main">
            <a:r>
              <a:t>- Retained transaction: https://sepolia.basescan.org/tx/0x7a6fb760f691954a41c71d5d508629c58aa09207bba0de4eaf164f097c59a789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real authenticated MCP test initialized the server, listed all nine tools, allocated the complex receipt, prepared typed data and created an approval challenge. It deliberately stopped there.</a:t>
            </a:r>
          </a:p>
          <a:p xmlns:a="http://schemas.openxmlformats.org/drawingml/2006/main">
            <a:r>
              <a:t/>
            </a:r>
          </a:p>
          <a:p xmlns:a="http://schemas.openxmlformats.org/drawingml/2006/main">
            <a:r>
              <a:t>[Sources]</a:t>
            </a:r>
          </a:p>
          <a:p xmlns:a="http://schemas.openxmlformats.org/drawingml/2006/main">
            <a:r>
              <a:t>- First-party release captures: video/finaltab-winner/assets/capture-v3</a:t>
            </a:r>
          </a:p>
          <a:p xmlns:a="http://schemas.openxmlformats.org/drawingml/2006/main">
            <a:r>
              <a:t>- Live product: https://finaltab.vercel.app/</a:t>
            </a:r>
          </a:p>
          <a:p xmlns:a="http://schemas.openxmlformats.org/drawingml/2006/main">
            <a:r>
              <a:t>- Repository: https://github.com/vaibhav4046/finaltab</a:t>
            </a:r>
          </a:p>
          <a:p xmlns:a="http://schemas.openxmlformats.org/drawingml/2006/main">
            <a:r>
              <a:t>- Retained transaction: https://sepolia.basescan.org/tx/0x7a6fb760f691954a41c71d5d508629c58aa09207bba0de4eaf164f097c59a789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Map directly to judging: working execution, depth of KeeperHub use, reliability, real-world utility, integration quality and builder onboarding. Do not claim PR #95 is merged.</a:t>
            </a:r>
          </a:p>
          <a:p xmlns:a="http://schemas.openxmlformats.org/drawingml/2006/main">
            <a:r>
              <a:t/>
            </a:r>
          </a:p>
          <a:p xmlns:a="http://schemas.openxmlformats.org/drawingml/2006/main">
            <a:r>
              <a:t>[Sources]</a:t>
            </a:r>
          </a:p>
          <a:p xmlns:a="http://schemas.openxmlformats.org/drawingml/2006/main">
            <a:r>
              <a:t>- First-party release captures: video/finaltab-winner/assets/capture-v3</a:t>
            </a:r>
          </a:p>
          <a:p xmlns:a="http://schemas.openxmlformats.org/drawingml/2006/main">
            <a:r>
              <a:t>- Live product: https://finaltab.vercel.app/</a:t>
            </a:r>
          </a:p>
          <a:p xmlns:a="http://schemas.openxmlformats.org/drawingml/2006/main">
            <a:r>
              <a:t>- Repository: https://github.com/vaibhav4046/finaltab</a:t>
            </a:r>
          </a:p>
          <a:p xmlns:a="http://schemas.openxmlformats.org/drawingml/2006/main">
            <a:r>
              <a:t>- Retained transaction: https://sepolia.basescan.org/tx/0x7a6fb760f691954a41c71d5d508629c58aa09207bba0de4eaf164f097c59a789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FINALTab makes the safe path the easy path—AI interprets, code reconciles, wallets consent, KeeperHub executes, and proof—not optimism—closes the tab. Current scope is Base Sepolia testnet; voice is configured but not live-proven.</a:t>
            </a:r>
          </a:p>
          <a:p xmlns:a="http://schemas.openxmlformats.org/drawingml/2006/main">
            <a:r>
              <a:t/>
            </a:r>
          </a:p>
          <a:p xmlns:a="http://schemas.openxmlformats.org/drawingml/2006/main">
            <a:r>
              <a:t>[Sources]</a:t>
            </a:r>
          </a:p>
          <a:p xmlns:a="http://schemas.openxmlformats.org/drawingml/2006/main">
            <a:r>
              <a:t>- First-party release captures: video/finaltab-winner/assets/capture-v3</a:t>
            </a:r>
          </a:p>
          <a:p xmlns:a="http://schemas.openxmlformats.org/drawingml/2006/main">
            <a:r>
              <a:t>- Live product: https://finaltab.vercel.app/</a:t>
            </a:r>
          </a:p>
          <a:p xmlns:a="http://schemas.openxmlformats.org/drawingml/2006/main">
            <a:r>
              <a:t>- Repository: https://github.com/vaibhav4046/finaltab</a:t>
            </a:r>
          </a:p>
          <a:p xmlns:a="http://schemas.openxmlformats.org/drawingml/2006/main">
            <a:r>
              <a:t>- Retained transaction: https://sepolia.basescan.org/tx/0x7a6fb760f691954a41c71d5d508629c58aa09207bba0de4eaf164f097c59a789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079bd3b3f643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144496f0cc4ec5" /><Relationship Type="http://schemas.openxmlformats.org/officeDocument/2006/relationships/slideLayout" Target="/ppt/slideLayouts/slideLayout1.xml" Id="R43aedc15143a4c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aedc15143a4c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d9544a5725b4818" /><Relationship Type="http://schemas.openxmlformats.org/officeDocument/2006/relationships/image" Target="/ppt/media/image.jpeg" Id="R186bf80b5ded44be" /><Relationship Type="http://schemas.openxmlformats.org/officeDocument/2006/relationships/notesSlide" Target="/ppt/notesSlides/notesSlide1.xml" Id="R43b40a3d98de4e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f96dcce15314254" /><Relationship Type="http://schemas.openxmlformats.org/officeDocument/2006/relationships/image" Target="/ppt/media/image.png" Id="R931fa7f7d1c34606" /><Relationship Type="http://schemas.openxmlformats.org/officeDocument/2006/relationships/notesSlide" Target="/ppt/notesSlides/notesSlide2.xml" Id="Rb674727903964c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900e1d542354415" /><Relationship Type="http://schemas.openxmlformats.org/officeDocument/2006/relationships/notesSlide" Target="/ppt/notesSlides/notesSlide3.xml" Id="R7c2a725b11dd48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bcb885cbe744a19" /><Relationship Type="http://schemas.openxmlformats.org/officeDocument/2006/relationships/image" Target="/ppt/media/image2.jpeg" Id="Rd18c521cb12c454b" /><Relationship Type="http://schemas.openxmlformats.org/officeDocument/2006/relationships/notesSlide" Target="/ppt/notesSlides/notesSlide4.xml" Id="R9154bbbd80d143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2cbcaeca9a64cd3" /><Relationship Type="http://schemas.openxmlformats.org/officeDocument/2006/relationships/image" Target="/ppt/media/image2.png" Id="R75347ccff3a94ad0" /><Relationship Type="http://schemas.openxmlformats.org/officeDocument/2006/relationships/notesSlide" Target="/ppt/notesSlides/notesSlide5.xml" Id="R964dff8357bf4c4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005c86e5d954c17" /><Relationship Type="http://schemas.openxmlformats.org/officeDocument/2006/relationships/image" Target="/ppt/media/image3.png" Id="R05707d2358f245fd" /><Relationship Type="http://schemas.openxmlformats.org/officeDocument/2006/relationships/notesSlide" Target="/ppt/notesSlides/notesSlide6.xml" Id="Ra0e01ad8f38a41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8ae56ccda8e4917" /><Relationship Type="http://schemas.openxmlformats.org/officeDocument/2006/relationships/image" Target="/ppt/media/image3.jpeg" Id="R8824e774195c4e16" /><Relationship Type="http://schemas.openxmlformats.org/officeDocument/2006/relationships/notesSlide" Target="/ppt/notesSlides/notesSlide7.xml" Id="Rb299dc56842745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95c782300644c8c" /><Relationship Type="http://schemas.openxmlformats.org/officeDocument/2006/relationships/notesSlide" Target="/ppt/notesSlides/notesSlide8.xml" Id="Racbdbc25f86c4cb0" /></Relationships>
</file>

<file path=ppt/slides/slide1.xml><?xml version="1.0" encoding="utf-8"?>
<p:sld xmlns:p="http://schemas.openxmlformats.org/presentationml/2006/main">
  <p:cSld>
    <p:bg>
      <p:bgPr>
        <a:solidFill xmlns:a="http://schemas.openxmlformats.org/drawingml/2006/main">
          <a:srgbClr val="05070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86bf80b5ded44be"/>
          <a:srcRect xmlns:a="http://schemas.openxmlformats.org/drawingml/2006/main" l="29029" t="0" r="29029" b="0"/>
          <a:stretch xmlns:a="http://schemas.openxmlformats.org/drawingml/2006/main">
            <a:fillRect l="0" t="0" r="0" b="0"/>
          </a:stretch>
        </p:blipFill>
        <p:spPr>
          <a:xfrm xmlns:a="http://schemas.openxmlformats.org/drawingml/2006/main">
            <a:off x="5791200" y="0"/>
            <a:ext cx="6400800" cy="6858000"/>
          </a:xfrm>
          <a:prstGeom xmlns:a="http://schemas.openxmlformats.org/drawingml/2006/main" prst="roundRect">
            <a:avLst>
              <a:gd name="adj" fmla="val 1786"/>
            </a:avLst>
          </a:prstGeom>
        </p:spPr>
      </p:pic>
      <p:sp>
        <p:nvSpPr>
          <p:cNvPr id="2" name="">
            <a:extLst xmlns:a="http://schemas.openxmlformats.org/drawingml/2006/main">
              <a:ext uri="{FF2B5EF4-FFF2-40B4-BE49-F238E27FC236}">
                <a16:creationId xmlns:a16="http://schemas.microsoft.com/office/drawing/2014/main" id="{5BCC0428-B466-425C-A26A-4C5FFFEC860F}"/>
              </a:ext>
            </a:extLst>
          </p:cNvPr>
          <p:cNvSpPr>
            <a:spLocks xmlns:a="http://schemas.openxmlformats.org/drawingml/2006/main" noGrp="1"/>
          </p:cNvSpPr>
          <p:nvPr/>
        </p:nvSpPr>
        <p:spPr>
          <a:xfrm xmlns:a="http://schemas.openxmlformats.org/drawingml/2006/main">
            <a:off x="5676900" y="0"/>
            <a:ext cx="152400" cy="6858000"/>
          </a:xfrm>
          <a:prstGeom xmlns:a="http://schemas.openxmlformats.org/drawingml/2006/main" prst="rect">
            <a:avLst/>
          </a:prstGeom>
          <a:solidFill xmlns:a="http://schemas.openxmlformats.org/drawingml/2006/main">
            <a:srgbClr val="45A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5857842-29CF-4655-B515-1463AE7486B9}"/>
              </a:ext>
            </a:extLst>
          </p:cNvPr>
          <p:cNvSpPr>
            <a:spLocks xmlns:a="http://schemas.openxmlformats.org/drawingml/2006/main" noGrp="1"/>
          </p:cNvSpPr>
          <p:nvPr/>
        </p:nvSpPr>
        <p:spPr>
          <a:xfrm xmlns:a="http://schemas.openxmlformats.org/drawingml/2006/main">
            <a:off x="685800" y="742950"/>
            <a:ext cx="476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F4F7F4"/>
                </a:solidFill>
              </a:defRPr>
            </a:pPr>
            <a:r>
              <a:rPr sz="4350" b="1">
                <a:solidFill>
                  <a:srgbClr val="F4F7F4"/>
                </a:solidFill>
              </a:rPr>
              <a:t>FINALTab</a:t>
            </a:r>
          </a:p>
        </p:txBody>
      </p:sp>
      <p:sp>
        <p:nvSpPr>
          <p:cNvPr id="4" name="">
            <a:extLst xmlns:a="http://schemas.openxmlformats.org/drawingml/2006/main">
              <a:ext uri="{FF2B5EF4-FFF2-40B4-BE49-F238E27FC236}">
                <a16:creationId xmlns:a16="http://schemas.microsoft.com/office/drawing/2014/main" id="{14EF4FAE-964B-43AA-B68B-3B35001F3028}"/>
              </a:ext>
            </a:extLst>
          </p:cNvPr>
          <p:cNvSpPr>
            <a:spLocks xmlns:a="http://schemas.openxmlformats.org/drawingml/2006/main" noGrp="1"/>
          </p:cNvSpPr>
          <p:nvPr/>
        </p:nvSpPr>
        <p:spPr>
          <a:xfrm xmlns:a="http://schemas.openxmlformats.org/drawingml/2006/main">
            <a:off x="685800" y="1676400"/>
            <a:ext cx="4476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C8FF3D"/>
                </a:solidFill>
              </a:defRPr>
            </a:pPr>
            <a:r>
              <a:rPr sz="3150" b="1">
                <a:solidFill>
                  <a:srgbClr val="C8FF3D"/>
                </a:solidFill>
              </a:rPr>
              <a:t>Proof—not optimism—closes the tab.</a:t>
            </a:r>
          </a:p>
        </p:txBody>
      </p:sp>
      <p:sp>
        <p:nvSpPr>
          <p:cNvPr id="5" name="">
            <a:extLst xmlns:a="http://schemas.openxmlformats.org/drawingml/2006/main">
              <a:ext uri="{FF2B5EF4-FFF2-40B4-BE49-F238E27FC236}">
                <a16:creationId xmlns:a16="http://schemas.microsoft.com/office/drawing/2014/main" id="{A48CF9E6-49D2-4402-86E7-0DEBE448BB02}"/>
              </a:ext>
            </a:extLst>
          </p:cNvPr>
          <p:cNvSpPr>
            <a:spLocks xmlns:a="http://schemas.openxmlformats.org/drawingml/2006/main" noGrp="1"/>
          </p:cNvSpPr>
          <p:nvPr/>
        </p:nvSpPr>
        <p:spPr>
          <a:xfrm xmlns:a="http://schemas.openxmlformats.org/drawingml/2006/main">
            <a:off x="685800" y="3352800"/>
            <a:ext cx="44767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F4F7F4"/>
                </a:solidFill>
              </a:defRPr>
            </a:pPr>
            <a:r>
              <a:rPr sz="1575" b="0">
                <a:solidFill>
                  <a:srgbClr val="F4F7F4"/>
                </a:solidFill>
              </a:rPr>
              <a:t>Exact receipt math</a:t>
            </a:r>
          </a:p>
          <a:p xmlns:a="http://schemas.openxmlformats.org/drawingml/2006/main">
            <a:pPr algn="l">
              <a:defRPr sz="1575" b="0">
                <a:solidFill>
                  <a:srgbClr val="F4F7F4"/>
                </a:solidFill>
              </a:defRPr>
            </a:pPr>
            <a:r>
              <a:rPr sz="1575" b="0">
                <a:solidFill>
                  <a:srgbClr val="F4F7F4"/>
                </a:solidFill>
              </a:rPr>
              <a:t>External wallet consent</a:t>
            </a:r>
          </a:p>
          <a:p xmlns:a="http://schemas.openxmlformats.org/drawingml/2006/main">
            <a:pPr algn="l">
              <a:defRPr sz="1575" b="0">
                <a:solidFill>
                  <a:srgbClr val="F4F7F4"/>
                </a:solidFill>
              </a:defRPr>
            </a:pPr>
            <a:r>
              <a:rPr sz="1575" b="0">
                <a:solidFill>
                  <a:srgbClr val="F4F7F4"/>
                </a:solidFill>
              </a:rPr>
              <a:t>KeeperHub execution</a:t>
            </a:r>
          </a:p>
          <a:p xmlns:a="http://schemas.openxmlformats.org/drawingml/2006/main">
            <a:pPr algn="l">
              <a:defRPr sz="1575" b="0">
                <a:solidFill>
                  <a:srgbClr val="F4F7F4"/>
                </a:solidFill>
              </a:defRPr>
            </a:pPr>
            <a:r>
              <a:rPr sz="1575" b="0">
                <a:solidFill>
                  <a:srgbClr val="F4F7F4"/>
                </a:solidFill>
              </a:rPr>
              <a:t>Independent onchain proof</a:t>
            </a:r>
          </a:p>
        </p:txBody>
      </p:sp>
      <p:sp>
        <p:nvSpPr>
          <p:cNvPr id="6" name="">
            <a:extLst xmlns:a="http://schemas.openxmlformats.org/drawingml/2006/main">
              <a:ext uri="{FF2B5EF4-FFF2-40B4-BE49-F238E27FC236}">
                <a16:creationId xmlns:a16="http://schemas.microsoft.com/office/drawing/2014/main" id="{04F1FE8C-BABA-490C-A8DD-E902C6785BA6}"/>
              </a:ext>
            </a:extLst>
          </p:cNvPr>
          <p:cNvSpPr>
            <a:spLocks xmlns:a="http://schemas.openxmlformats.org/drawingml/2006/main" noGrp="1"/>
          </p:cNvSpPr>
          <p:nvPr/>
        </p:nvSpPr>
        <p:spPr>
          <a:xfrm xmlns:a="http://schemas.openxmlformats.org/drawingml/2006/main">
            <a:off x="685800" y="59055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45AFFF"/>
                </a:solidFill>
              </a:defRPr>
            </a:pPr>
            <a:r>
              <a:rPr sz="1200" b="1">
                <a:solidFill>
                  <a:srgbClr val="45AFFF"/>
                </a:solidFill>
              </a:rPr>
              <a:t>KeeperHub Agents Onchain finalist pitch</a:t>
            </a:r>
          </a:p>
        </p:txBody>
      </p:sp>
      <p:sp>
        <p:nvSpPr>
          <p:cNvPr id="7" name="">
            <a:extLst xmlns:a="http://schemas.openxmlformats.org/drawingml/2006/main">
              <a:ext uri="{FF2B5EF4-FFF2-40B4-BE49-F238E27FC236}">
                <a16:creationId xmlns:a16="http://schemas.microsoft.com/office/drawing/2014/main" id="{77B42D97-3797-43A4-ACD4-3612ACE6AA32}"/>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A5B0A8"/>
                </a:solidFill>
              </a:defRPr>
            </a:pPr>
            <a:r>
              <a:rPr sz="825" b="0">
                <a:solidFill>
                  <a:srgbClr val="A5B0A8"/>
                </a:solidFill>
              </a:rPr>
              <a:t>FINALTab  •  KeeperHub Agents Onchain</a:t>
            </a:r>
          </a:p>
        </p:txBody>
      </p:sp>
      <p:sp>
        <p:nvSpPr>
          <p:cNvPr id="8" name="">
            <a:extLst xmlns:a="http://schemas.openxmlformats.org/drawingml/2006/main">
              <a:ext uri="{FF2B5EF4-FFF2-40B4-BE49-F238E27FC236}">
                <a16:creationId xmlns:a16="http://schemas.microsoft.com/office/drawing/2014/main" id="{3C1119D2-E62D-46FD-A020-875A58205545}"/>
              </a:ext>
            </a:extLst>
          </p:cNvPr>
          <p:cNvSpPr>
            <a:spLocks xmlns:a="http://schemas.openxmlformats.org/drawingml/2006/main" noGrp="1"/>
          </p:cNvSpPr>
          <p:nvPr/>
        </p:nvSpPr>
        <p:spPr>
          <a:xfrm xmlns:a="http://schemas.openxmlformats.org/drawingml/2006/main">
            <a:off x="11144250" y="65151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A5B0A8"/>
                </a:solidFill>
              </a:defRPr>
            </a:pPr>
            <a:r>
              <a:rPr sz="825" b="1">
                <a:solidFill>
                  <a:srgbClr val="A5B0A8"/>
                </a:solidFill>
              </a:rPr>
              <a:t>01</a:t>
            </a:r>
          </a:p>
        </p:txBody>
      </p:sp>
    </p:spTree>
    <p:extLst>
      <p:ext uri="{BB962C8B-B14F-4D97-AF65-F5344CB8AC3E}">
        <p14:creationId xmlns:p14="http://schemas.microsoft.com/office/powerpoint/2010/main" val="96397970"/>
      </p:ext>
    </p:extLst>
  </p:cSld>
</p:sld>
</file>

<file path=ppt/slides/slide2.xml><?xml version="1.0" encoding="utf-8"?>
<p:sld xmlns:p="http://schemas.openxmlformats.org/presentationml/2006/main">
  <p:cSld>
    <p:bg>
      <p:bgPr>
        <a:solidFill xmlns:a="http://schemas.openxmlformats.org/drawingml/2006/main">
          <a:srgbClr val="05070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23911A4-0890-4DA7-BFF7-58E7E0E43120}"/>
              </a:ext>
            </a:extLst>
          </p:cNvPr>
          <p:cNvSpPr>
            <a:spLocks xmlns:a="http://schemas.openxmlformats.org/drawingml/2006/main" noGrp="1"/>
          </p:cNvSpPr>
          <p:nvPr/>
        </p:nvSpPr>
        <p:spPr>
          <a:xfrm xmlns:a="http://schemas.openxmlformats.org/drawingml/2006/main">
            <a:off x="685800" y="45720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8FF3D"/>
                </a:solidFill>
              </a:defRPr>
            </a:pPr>
            <a:r>
              <a:rPr sz="1050" b="1">
                <a:solidFill>
                  <a:srgbClr val="C8FF3D"/>
                </a:solidFill>
              </a:rPr>
              <a:t>THE HARD PROBLEM</a:t>
            </a:r>
          </a:p>
        </p:txBody>
      </p:sp>
      <p:sp>
        <p:nvSpPr>
          <p:cNvPr id="2" name="">
            <a:extLst xmlns:a="http://schemas.openxmlformats.org/drawingml/2006/main">
              <a:ext uri="{FF2B5EF4-FFF2-40B4-BE49-F238E27FC236}">
                <a16:creationId xmlns:a16="http://schemas.microsoft.com/office/drawing/2014/main" id="{1B768DEC-3385-49C4-B3A5-0315DFEC9518}"/>
              </a:ext>
            </a:extLst>
          </p:cNvPr>
          <p:cNvSpPr>
            <a:spLocks xmlns:a="http://schemas.openxmlformats.org/drawingml/2006/main" noGrp="1"/>
          </p:cNvSpPr>
          <p:nvPr/>
        </p:nvSpPr>
        <p:spPr>
          <a:xfrm xmlns:a="http://schemas.openxmlformats.org/drawingml/2006/main">
            <a:off x="685800" y="78105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4F7F4"/>
                </a:solidFill>
              </a:defRPr>
            </a:pPr>
            <a:r>
              <a:rPr sz="3150" b="1">
                <a:solidFill>
                  <a:srgbClr val="F4F7F4"/>
                </a:solidFill>
              </a:rPr>
              <a:t>Messy intent must become one exact plan</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31fa7f7d1c34606"/>
          <a:stretch xmlns:a="http://schemas.openxmlformats.org/drawingml/2006/main"/>
        </p:blipFill>
        <p:spPr>
          <a:xfrm xmlns:a="http://schemas.openxmlformats.org/drawingml/2006/main">
            <a:off x="609600" y="2021086"/>
            <a:ext cx="6191250" cy="3482578"/>
          </a:xfrm>
          <a:prstGeom xmlns:a="http://schemas.openxmlformats.org/drawingml/2006/main" prst="roundRect">
            <a:avLst>
              <a:gd name="adj" fmla="val 2791"/>
            </a:avLst>
          </a:prstGeom>
        </p:spPr>
      </p:pic>
      <p:sp>
        <p:nvSpPr>
          <p:cNvPr id="4" name="">
            <a:extLst xmlns:a="http://schemas.openxmlformats.org/drawingml/2006/main">
              <a:ext uri="{FF2B5EF4-FFF2-40B4-BE49-F238E27FC236}">
                <a16:creationId xmlns:a16="http://schemas.microsoft.com/office/drawing/2014/main" id="{C8E6C799-5203-44FD-8A45-9437DED885F8}"/>
              </a:ext>
            </a:extLst>
          </p:cNvPr>
          <p:cNvSpPr>
            <a:spLocks xmlns:a="http://schemas.openxmlformats.org/drawingml/2006/main" noGrp="1"/>
          </p:cNvSpPr>
          <p:nvPr/>
        </p:nvSpPr>
        <p:spPr>
          <a:xfrm xmlns:a="http://schemas.openxmlformats.org/drawingml/2006/main">
            <a:off x="7334250" y="1809750"/>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C8FF3D"/>
                </a:solidFill>
              </a:defRPr>
            </a:pPr>
            <a:r>
              <a:rPr sz="3900" b="1">
                <a:solidFill>
                  <a:srgbClr val="C8FF3D"/>
                </a:solidFill>
              </a:rPr>
              <a:t>$172.04</a:t>
            </a:r>
          </a:p>
        </p:txBody>
      </p:sp>
      <p:sp>
        <p:nvSpPr>
          <p:cNvPr id="5" name="">
            <a:extLst xmlns:a="http://schemas.openxmlformats.org/drawingml/2006/main">
              <a:ext uri="{FF2B5EF4-FFF2-40B4-BE49-F238E27FC236}">
                <a16:creationId xmlns:a16="http://schemas.microsoft.com/office/drawing/2014/main" id="{071B4428-443F-449C-9077-3F872CF54DFE}"/>
              </a:ext>
            </a:extLst>
          </p:cNvPr>
          <p:cNvSpPr>
            <a:spLocks xmlns:a="http://schemas.openxmlformats.org/drawingml/2006/main" noGrp="1"/>
          </p:cNvSpPr>
          <p:nvPr/>
        </p:nvSpPr>
        <p:spPr>
          <a:xfrm xmlns:a="http://schemas.openxmlformats.org/drawingml/2006/main">
            <a:off x="7334250" y="262890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F4F7F4"/>
                </a:solidFill>
              </a:defRPr>
            </a:pPr>
            <a:r>
              <a:rPr sz="2100" b="1">
                <a:solidFill>
                  <a:srgbClr val="F4F7F4"/>
                </a:solidFill>
              </a:rPr>
              <a:t>19 receipt lines</a:t>
            </a:r>
          </a:p>
        </p:txBody>
      </p:sp>
      <p:sp>
        <p:nvSpPr>
          <p:cNvPr id="6" name="">
            <a:extLst xmlns:a="http://schemas.openxmlformats.org/drawingml/2006/main">
              <a:ext uri="{FF2B5EF4-FFF2-40B4-BE49-F238E27FC236}">
                <a16:creationId xmlns:a16="http://schemas.microsoft.com/office/drawing/2014/main" id="{0BDE4179-3111-423A-AEE1-7B206ADB2550}"/>
              </a:ext>
            </a:extLst>
          </p:cNvPr>
          <p:cNvSpPr>
            <a:spLocks xmlns:a="http://schemas.openxmlformats.org/drawingml/2006/main" noGrp="1"/>
          </p:cNvSpPr>
          <p:nvPr/>
        </p:nvSpPr>
        <p:spPr>
          <a:xfrm xmlns:a="http://schemas.openxmlformats.org/drawingml/2006/main">
            <a:off x="7334250" y="312420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F4F7F4"/>
                </a:solidFill>
              </a:defRPr>
            </a:pPr>
            <a:r>
              <a:rPr sz="2100" b="1">
                <a:solidFill>
                  <a:srgbClr val="F4F7F4"/>
                </a:solidFill>
              </a:rPr>
              <a:t>8 participants</a:t>
            </a:r>
          </a:p>
        </p:txBody>
      </p:sp>
      <p:sp>
        <p:nvSpPr>
          <p:cNvPr id="7" name="">
            <a:extLst xmlns:a="http://schemas.openxmlformats.org/drawingml/2006/main">
              <a:ext uri="{FF2B5EF4-FFF2-40B4-BE49-F238E27FC236}">
                <a16:creationId xmlns:a16="http://schemas.microsoft.com/office/drawing/2014/main" id="{CF0080B0-1187-4612-AF04-899DFFC89262}"/>
              </a:ext>
            </a:extLst>
          </p:cNvPr>
          <p:cNvSpPr>
            <a:spLocks xmlns:a="http://schemas.openxmlformats.org/drawingml/2006/main" noGrp="1"/>
          </p:cNvSpPr>
          <p:nvPr/>
        </p:nvSpPr>
        <p:spPr>
          <a:xfrm xmlns:a="http://schemas.openxmlformats.org/drawingml/2006/main">
            <a:off x="7334250" y="3829050"/>
            <a:ext cx="3905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A5B0A8"/>
                </a:solidFill>
              </a:defRPr>
            </a:pPr>
            <a:r>
              <a:rPr sz="1500" b="0">
                <a:solidFill>
                  <a:srgbClr val="A5B0A8"/>
                </a:solidFill>
              </a:rPr>
              <a:t>Weights, exclusions, shared charges and a payer correction—all reconciled in integer minor units.</a:t>
            </a:r>
          </a:p>
        </p:txBody>
      </p:sp>
      <p:sp>
        <p:nvSpPr>
          <p:cNvPr id="8" name="">
            <a:extLst xmlns:a="http://schemas.openxmlformats.org/drawingml/2006/main">
              <a:ext uri="{FF2B5EF4-FFF2-40B4-BE49-F238E27FC236}">
                <a16:creationId xmlns:a16="http://schemas.microsoft.com/office/drawing/2014/main" id="{E18A815B-AC41-4B69-9CD1-9F5105B04364}"/>
              </a:ext>
            </a:extLst>
          </p:cNvPr>
          <p:cNvSpPr>
            <a:spLocks xmlns:a="http://schemas.openxmlformats.org/drawingml/2006/main" noGrp="1"/>
          </p:cNvSpPr>
          <p:nvPr/>
        </p:nvSpPr>
        <p:spPr>
          <a:xfrm xmlns:a="http://schemas.openxmlformats.org/drawingml/2006/main">
            <a:off x="7334250" y="5257800"/>
            <a:ext cx="3905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45AFFF"/>
                </a:solidFill>
              </a:defRPr>
            </a:pPr>
            <a:r>
              <a:rPr sz="1650" b="1">
                <a:solidFill>
                  <a:srgbClr val="45AFFF"/>
                </a:solidFill>
              </a:rPr>
              <a:t>AI structures the intent. Deterministic code owns every cent.</a:t>
            </a:r>
          </a:p>
        </p:txBody>
      </p:sp>
      <p:sp>
        <p:nvSpPr>
          <p:cNvPr id="9" name="">
            <a:extLst xmlns:a="http://schemas.openxmlformats.org/drawingml/2006/main">
              <a:ext uri="{FF2B5EF4-FFF2-40B4-BE49-F238E27FC236}">
                <a16:creationId xmlns:a16="http://schemas.microsoft.com/office/drawing/2014/main" id="{085A7FD7-06E8-4811-B612-096F20282068}"/>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A5B0A8"/>
                </a:solidFill>
              </a:defRPr>
            </a:pPr>
            <a:r>
              <a:rPr sz="825" b="0">
                <a:solidFill>
                  <a:srgbClr val="A5B0A8"/>
                </a:solidFill>
              </a:rPr>
              <a:t>FINALTab  •  KeeperHub Agents Onchain</a:t>
            </a:r>
          </a:p>
        </p:txBody>
      </p:sp>
      <p:sp>
        <p:nvSpPr>
          <p:cNvPr id="10" name="">
            <a:extLst xmlns:a="http://schemas.openxmlformats.org/drawingml/2006/main">
              <a:ext uri="{FF2B5EF4-FFF2-40B4-BE49-F238E27FC236}">
                <a16:creationId xmlns:a16="http://schemas.microsoft.com/office/drawing/2014/main" id="{EBEDA5A1-6032-4654-8387-BCEEF8AEC517}"/>
              </a:ext>
            </a:extLst>
          </p:cNvPr>
          <p:cNvSpPr>
            <a:spLocks xmlns:a="http://schemas.openxmlformats.org/drawingml/2006/main" noGrp="1"/>
          </p:cNvSpPr>
          <p:nvPr/>
        </p:nvSpPr>
        <p:spPr>
          <a:xfrm xmlns:a="http://schemas.openxmlformats.org/drawingml/2006/main">
            <a:off x="11144250" y="65151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A5B0A8"/>
                </a:solidFill>
              </a:defRPr>
            </a:pPr>
            <a:r>
              <a:rPr sz="825" b="1">
                <a:solidFill>
                  <a:srgbClr val="A5B0A8"/>
                </a:solidFill>
              </a:rPr>
              <a:t>02</a:t>
            </a:r>
          </a:p>
        </p:txBody>
      </p:sp>
    </p:spTree>
    <p:extLst>
      <p:ext uri="{BB962C8B-B14F-4D97-AF65-F5344CB8AC3E}">
        <p14:creationId xmlns:p14="http://schemas.microsoft.com/office/powerpoint/2010/main" val="61022984"/>
      </p:ext>
    </p:extLst>
  </p:cSld>
</p:sld>
</file>

<file path=ppt/slides/slide3.xml><?xml version="1.0" encoding="utf-8"?>
<p:sld xmlns:p="http://schemas.openxmlformats.org/presentationml/2006/main">
  <p:cSld>
    <p:bg>
      <p:bgPr>
        <a:solidFill xmlns:a="http://schemas.openxmlformats.org/drawingml/2006/main">
          <a:srgbClr val="050706"/>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82674EA8-F393-4C82-A927-19FDDB774A77}"/>
              </a:ext>
            </a:extLst>
          </p:cNvPr>
          <p:cNvSpPr>
            <a:spLocks xmlns:a="http://schemas.openxmlformats.org/drawingml/2006/main" noGrp="1"/>
          </p:cNvSpPr>
          <p:nvPr/>
        </p:nvSpPr>
        <p:spPr>
          <a:xfrm xmlns:a="http://schemas.openxmlformats.org/drawingml/2006/main">
            <a:off x="685800" y="45720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8FF3D"/>
                </a:solidFill>
              </a:defRPr>
            </a:pPr>
            <a:r>
              <a:rPr sz="1050" b="1">
                <a:solidFill>
                  <a:srgbClr val="C8FF3D"/>
                </a:solidFill>
              </a:rPr>
              <a:t>SAFETY ARCHITECTURE</a:t>
            </a:r>
          </a:p>
        </p:txBody>
      </p:sp>
      <p:sp>
        <p:nvSpPr>
          <p:cNvPr id="2" name="">
            <a:extLst xmlns:a="http://schemas.openxmlformats.org/drawingml/2006/main">
              <a:ext uri="{FF2B5EF4-FFF2-40B4-BE49-F238E27FC236}">
                <a16:creationId xmlns:a16="http://schemas.microsoft.com/office/drawing/2014/main" id="{6C60A849-35F8-448C-9240-72509BA29660}"/>
              </a:ext>
            </a:extLst>
          </p:cNvPr>
          <p:cNvSpPr>
            <a:spLocks xmlns:a="http://schemas.openxmlformats.org/drawingml/2006/main" noGrp="1"/>
          </p:cNvSpPr>
          <p:nvPr/>
        </p:nvSpPr>
        <p:spPr>
          <a:xfrm xmlns:a="http://schemas.openxmlformats.org/drawingml/2006/main">
            <a:off x="685800" y="78105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4F7F4"/>
                </a:solidFill>
              </a:defRPr>
            </a:pPr>
            <a:r>
              <a:rPr sz="3150" b="1">
                <a:solidFill>
                  <a:srgbClr val="F4F7F4"/>
                </a:solidFill>
              </a:rPr>
              <a:t>AI proposes. Code decides. Wallets consent.</a:t>
            </a:r>
          </a:p>
        </p:txBody>
      </p:sp>
      <p:sp>
        <p:nvSpPr>
          <p:cNvPr id="3" name="">
            <a:extLst xmlns:a="http://schemas.openxmlformats.org/drawingml/2006/main">
              <a:ext uri="{FF2B5EF4-FFF2-40B4-BE49-F238E27FC236}">
                <a16:creationId xmlns:a16="http://schemas.microsoft.com/office/drawing/2014/main" id="{50865735-3A07-4AA0-9BF4-381C94250336}"/>
              </a:ext>
            </a:extLst>
          </p:cNvPr>
          <p:cNvSpPr>
            <a:spLocks xmlns:a="http://schemas.openxmlformats.org/drawingml/2006/main" noGrp="1"/>
          </p:cNvSpPr>
          <p:nvPr/>
        </p:nvSpPr>
        <p:spPr>
          <a:xfrm xmlns:a="http://schemas.openxmlformats.org/drawingml/2006/main">
            <a:off x="666750" y="2381250"/>
            <a:ext cx="1428750" cy="1409700"/>
          </a:xfrm>
          <a:prstGeom xmlns:a="http://schemas.openxmlformats.org/drawingml/2006/main" prst="roundRect">
            <a:avLst>
              <a:gd name="adj" fmla="val 10811"/>
            </a:avLst>
          </a:prstGeom>
          <a:solidFill xmlns:a="http://schemas.openxmlformats.org/drawingml/2006/main">
            <a:srgbClr val="0B100D"/>
          </a:solidFill>
          <a:ln xmlns:a="http://schemas.openxmlformats.org/drawingml/2006/main" w="9525">
            <a:solidFill>
              <a:srgbClr val="253029"/>
            </a:solidFill>
            <a:prstDash val="solid"/>
          </a:ln>
        </p:spPr>
      </p:sp>
      <p:sp>
        <p:nvSpPr>
          <p:cNvPr id="4" name="">
            <a:extLst xmlns:a="http://schemas.openxmlformats.org/drawingml/2006/main">
              <a:ext uri="{FF2B5EF4-FFF2-40B4-BE49-F238E27FC236}">
                <a16:creationId xmlns:a16="http://schemas.microsoft.com/office/drawing/2014/main" id="{854E9093-2FB4-4767-A69D-676F836BDFF3}"/>
              </a:ext>
            </a:extLst>
          </p:cNvPr>
          <p:cNvSpPr>
            <a:spLocks xmlns:a="http://schemas.openxmlformats.org/drawingml/2006/main" noGrp="1"/>
          </p:cNvSpPr>
          <p:nvPr/>
        </p:nvSpPr>
        <p:spPr>
          <a:xfrm xmlns:a="http://schemas.openxmlformats.org/drawingml/2006/main">
            <a:off x="819150" y="25527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5AFFF"/>
                </a:solidFill>
              </a:defRPr>
            </a:pPr>
            <a:r>
              <a:rPr sz="900" b="1">
                <a:solidFill>
                  <a:srgbClr val="45AFFF"/>
                </a:solidFill>
              </a:rPr>
              <a:t>01</a:t>
            </a:r>
          </a:p>
        </p:txBody>
      </p:sp>
      <p:sp>
        <p:nvSpPr>
          <p:cNvPr id="5" name="">
            <a:extLst xmlns:a="http://schemas.openxmlformats.org/drawingml/2006/main">
              <a:ext uri="{FF2B5EF4-FFF2-40B4-BE49-F238E27FC236}">
                <a16:creationId xmlns:a16="http://schemas.microsoft.com/office/drawing/2014/main" id="{65B441C2-565E-4D55-86CC-F38F079823D1}"/>
              </a:ext>
            </a:extLst>
          </p:cNvPr>
          <p:cNvSpPr>
            <a:spLocks xmlns:a="http://schemas.openxmlformats.org/drawingml/2006/main" noGrp="1"/>
          </p:cNvSpPr>
          <p:nvPr/>
        </p:nvSpPr>
        <p:spPr>
          <a:xfrm xmlns:a="http://schemas.openxmlformats.org/drawingml/2006/main">
            <a:off x="819150" y="291465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7F4"/>
                </a:solidFill>
              </a:defRPr>
            </a:pPr>
            <a:r>
              <a:rPr sz="1500" b="1">
                <a:solidFill>
                  <a:srgbClr val="F4F7F4"/>
                </a:solidFill>
              </a:rPr>
              <a:t>Interpret</a:t>
            </a:r>
          </a:p>
        </p:txBody>
      </p:sp>
      <p:sp>
        <p:nvSpPr>
          <p:cNvPr id="6" name="">
            <a:extLst xmlns:a="http://schemas.openxmlformats.org/drawingml/2006/main">
              <a:ext uri="{FF2B5EF4-FFF2-40B4-BE49-F238E27FC236}">
                <a16:creationId xmlns:a16="http://schemas.microsoft.com/office/drawing/2014/main" id="{2D86E80F-0E60-4EB9-B327-9A2F0DE846FC}"/>
              </a:ext>
            </a:extLst>
          </p:cNvPr>
          <p:cNvSpPr>
            <a:spLocks xmlns:a="http://schemas.openxmlformats.org/drawingml/2006/main" noGrp="1"/>
          </p:cNvSpPr>
          <p:nvPr/>
        </p:nvSpPr>
        <p:spPr>
          <a:xfrm xmlns:a="http://schemas.openxmlformats.org/drawingml/2006/main">
            <a:off x="819150" y="3371850"/>
            <a:ext cx="1123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A5B0A8"/>
                </a:solidFill>
              </a:defRPr>
            </a:pPr>
            <a:r>
              <a:rPr sz="1050" b="0">
                <a:solidFill>
                  <a:srgbClr val="A5B0A8"/>
                </a:solidFill>
              </a:rPr>
              <a:t>model proposal</a:t>
            </a:r>
          </a:p>
        </p:txBody>
      </p:sp>
      <p:sp>
        <p:nvSpPr>
          <p:cNvPr id="7" name="">
            <a:extLst xmlns:a="http://schemas.openxmlformats.org/drawingml/2006/main">
              <a:ext uri="{FF2B5EF4-FFF2-40B4-BE49-F238E27FC236}">
                <a16:creationId xmlns:a16="http://schemas.microsoft.com/office/drawing/2014/main" id="{0788206C-D970-41CB-9305-CF0D03E8C0AE}"/>
              </a:ext>
            </a:extLst>
          </p:cNvPr>
          <p:cNvSpPr>
            <a:spLocks xmlns:a="http://schemas.openxmlformats.org/drawingml/2006/main" noGrp="1"/>
          </p:cNvSpPr>
          <p:nvPr/>
        </p:nvSpPr>
        <p:spPr>
          <a:xfrm xmlns:a="http://schemas.openxmlformats.org/drawingml/2006/main">
            <a:off x="2171700" y="2838450"/>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45AFFF"/>
                </a:solidFill>
              </a:defRPr>
            </a:pPr>
            <a:r>
              <a:rPr sz="1875" b="1">
                <a:solidFill>
                  <a:srgbClr val="45AFFF"/>
                </a:solidFill>
              </a:rPr>
              <a:t>→</a:t>
            </a:r>
          </a:p>
        </p:txBody>
      </p:sp>
      <p:sp>
        <p:nvSpPr>
          <p:cNvPr id="8" name="">
            <a:extLst xmlns:a="http://schemas.openxmlformats.org/drawingml/2006/main">
              <a:ext uri="{FF2B5EF4-FFF2-40B4-BE49-F238E27FC236}">
                <a16:creationId xmlns:a16="http://schemas.microsoft.com/office/drawing/2014/main" id="{02619415-070F-4EAA-B552-522CF4D6DFDD}"/>
              </a:ext>
            </a:extLst>
          </p:cNvPr>
          <p:cNvSpPr>
            <a:spLocks xmlns:a="http://schemas.openxmlformats.org/drawingml/2006/main" noGrp="1"/>
          </p:cNvSpPr>
          <p:nvPr/>
        </p:nvSpPr>
        <p:spPr>
          <a:xfrm xmlns:a="http://schemas.openxmlformats.org/drawingml/2006/main">
            <a:off x="2524125" y="2381250"/>
            <a:ext cx="1428750" cy="1409700"/>
          </a:xfrm>
          <a:prstGeom xmlns:a="http://schemas.openxmlformats.org/drawingml/2006/main" prst="roundRect">
            <a:avLst>
              <a:gd name="adj" fmla="val 10811"/>
            </a:avLst>
          </a:prstGeom>
          <a:solidFill xmlns:a="http://schemas.openxmlformats.org/drawingml/2006/main">
            <a:srgbClr val="0B100D"/>
          </a:solidFill>
          <a:ln xmlns:a="http://schemas.openxmlformats.org/drawingml/2006/main" w="9525">
            <a:solidFill>
              <a:srgbClr val="253029"/>
            </a:solidFill>
            <a:prstDash val="solid"/>
          </a:ln>
        </p:spPr>
      </p:sp>
      <p:sp>
        <p:nvSpPr>
          <p:cNvPr id="9" name="">
            <a:extLst xmlns:a="http://schemas.openxmlformats.org/drawingml/2006/main">
              <a:ext uri="{FF2B5EF4-FFF2-40B4-BE49-F238E27FC236}">
                <a16:creationId xmlns:a16="http://schemas.microsoft.com/office/drawing/2014/main" id="{3C171896-C27F-4834-80BB-AFD974EF24E9}"/>
              </a:ext>
            </a:extLst>
          </p:cNvPr>
          <p:cNvSpPr>
            <a:spLocks xmlns:a="http://schemas.openxmlformats.org/drawingml/2006/main" noGrp="1"/>
          </p:cNvSpPr>
          <p:nvPr/>
        </p:nvSpPr>
        <p:spPr>
          <a:xfrm xmlns:a="http://schemas.openxmlformats.org/drawingml/2006/main">
            <a:off x="2676525" y="25527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5AFFF"/>
                </a:solidFill>
              </a:defRPr>
            </a:pPr>
            <a:r>
              <a:rPr sz="900" b="1">
                <a:solidFill>
                  <a:srgbClr val="45AFFF"/>
                </a:solidFill>
              </a:rPr>
              <a:t>02</a:t>
            </a:r>
          </a:p>
        </p:txBody>
      </p:sp>
      <p:sp>
        <p:nvSpPr>
          <p:cNvPr id="10" name="">
            <a:extLst xmlns:a="http://schemas.openxmlformats.org/drawingml/2006/main">
              <a:ext uri="{FF2B5EF4-FFF2-40B4-BE49-F238E27FC236}">
                <a16:creationId xmlns:a16="http://schemas.microsoft.com/office/drawing/2014/main" id="{213B0F16-4A29-4AAF-AC56-2BE967DF668F}"/>
              </a:ext>
            </a:extLst>
          </p:cNvPr>
          <p:cNvSpPr>
            <a:spLocks xmlns:a="http://schemas.openxmlformats.org/drawingml/2006/main" noGrp="1"/>
          </p:cNvSpPr>
          <p:nvPr/>
        </p:nvSpPr>
        <p:spPr>
          <a:xfrm xmlns:a="http://schemas.openxmlformats.org/drawingml/2006/main">
            <a:off x="2676525" y="291465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7F4"/>
                </a:solidFill>
              </a:defRPr>
            </a:pPr>
            <a:r>
              <a:rPr sz="1500" b="1">
                <a:solidFill>
                  <a:srgbClr val="F4F7F4"/>
                </a:solidFill>
              </a:rPr>
              <a:t>Reconcile</a:t>
            </a:r>
          </a:p>
        </p:txBody>
      </p:sp>
      <p:sp>
        <p:nvSpPr>
          <p:cNvPr id="11" name="">
            <a:extLst xmlns:a="http://schemas.openxmlformats.org/drawingml/2006/main">
              <a:ext uri="{FF2B5EF4-FFF2-40B4-BE49-F238E27FC236}">
                <a16:creationId xmlns:a16="http://schemas.microsoft.com/office/drawing/2014/main" id="{B0574B2A-E701-4BA8-A0AD-CF9F47469718}"/>
              </a:ext>
            </a:extLst>
          </p:cNvPr>
          <p:cNvSpPr>
            <a:spLocks xmlns:a="http://schemas.openxmlformats.org/drawingml/2006/main" noGrp="1"/>
          </p:cNvSpPr>
          <p:nvPr/>
        </p:nvSpPr>
        <p:spPr>
          <a:xfrm xmlns:a="http://schemas.openxmlformats.org/drawingml/2006/main">
            <a:off x="2676525" y="3371850"/>
            <a:ext cx="1123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A5B0A8"/>
                </a:solidFill>
              </a:defRPr>
            </a:pPr>
            <a:r>
              <a:rPr sz="1050" b="0">
                <a:solidFill>
                  <a:srgbClr val="A5B0A8"/>
                </a:solidFill>
              </a:rPr>
              <a:t>integer cents</a:t>
            </a:r>
          </a:p>
        </p:txBody>
      </p:sp>
      <p:sp>
        <p:nvSpPr>
          <p:cNvPr id="12" name="">
            <a:extLst xmlns:a="http://schemas.openxmlformats.org/drawingml/2006/main">
              <a:ext uri="{FF2B5EF4-FFF2-40B4-BE49-F238E27FC236}">
                <a16:creationId xmlns:a16="http://schemas.microsoft.com/office/drawing/2014/main" id="{F7C03D7D-1838-4DE0-9496-77B846B9B840}"/>
              </a:ext>
            </a:extLst>
          </p:cNvPr>
          <p:cNvSpPr>
            <a:spLocks xmlns:a="http://schemas.openxmlformats.org/drawingml/2006/main" noGrp="1"/>
          </p:cNvSpPr>
          <p:nvPr/>
        </p:nvSpPr>
        <p:spPr>
          <a:xfrm xmlns:a="http://schemas.openxmlformats.org/drawingml/2006/main">
            <a:off x="4029075" y="2838450"/>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45AFFF"/>
                </a:solidFill>
              </a:defRPr>
            </a:pPr>
            <a:r>
              <a:rPr sz="1875" b="1">
                <a:solidFill>
                  <a:srgbClr val="45AFFF"/>
                </a:solidFill>
              </a:rPr>
              <a:t>→</a:t>
            </a:r>
          </a:p>
        </p:txBody>
      </p:sp>
      <p:sp>
        <p:nvSpPr>
          <p:cNvPr id="13" name="">
            <a:extLst xmlns:a="http://schemas.openxmlformats.org/drawingml/2006/main">
              <a:ext uri="{FF2B5EF4-FFF2-40B4-BE49-F238E27FC236}">
                <a16:creationId xmlns:a16="http://schemas.microsoft.com/office/drawing/2014/main" id="{CCE74F97-245E-407F-BD0B-A5F7FE915A47}"/>
              </a:ext>
            </a:extLst>
          </p:cNvPr>
          <p:cNvSpPr>
            <a:spLocks xmlns:a="http://schemas.openxmlformats.org/drawingml/2006/main" noGrp="1"/>
          </p:cNvSpPr>
          <p:nvPr/>
        </p:nvSpPr>
        <p:spPr>
          <a:xfrm xmlns:a="http://schemas.openxmlformats.org/drawingml/2006/main">
            <a:off x="4381500" y="2381250"/>
            <a:ext cx="1428750" cy="1409700"/>
          </a:xfrm>
          <a:prstGeom xmlns:a="http://schemas.openxmlformats.org/drawingml/2006/main" prst="roundRect">
            <a:avLst>
              <a:gd name="adj" fmla="val 10811"/>
            </a:avLst>
          </a:prstGeom>
          <a:solidFill xmlns:a="http://schemas.openxmlformats.org/drawingml/2006/main">
            <a:srgbClr val="0B100D"/>
          </a:solidFill>
          <a:ln xmlns:a="http://schemas.openxmlformats.org/drawingml/2006/main" w="9525">
            <a:solidFill>
              <a:srgbClr val="253029"/>
            </a:solidFill>
            <a:prstDash val="solid"/>
          </a:ln>
        </p:spPr>
      </p:sp>
      <p:sp>
        <p:nvSpPr>
          <p:cNvPr id="14" name="">
            <a:extLst xmlns:a="http://schemas.openxmlformats.org/drawingml/2006/main">
              <a:ext uri="{FF2B5EF4-FFF2-40B4-BE49-F238E27FC236}">
                <a16:creationId xmlns:a16="http://schemas.microsoft.com/office/drawing/2014/main" id="{6A177761-ED94-4E08-8F54-6F57A2F8ACED}"/>
              </a:ext>
            </a:extLst>
          </p:cNvPr>
          <p:cNvSpPr>
            <a:spLocks xmlns:a="http://schemas.openxmlformats.org/drawingml/2006/main" noGrp="1"/>
          </p:cNvSpPr>
          <p:nvPr/>
        </p:nvSpPr>
        <p:spPr>
          <a:xfrm xmlns:a="http://schemas.openxmlformats.org/drawingml/2006/main">
            <a:off x="4533900" y="25527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5AFFF"/>
                </a:solidFill>
              </a:defRPr>
            </a:pPr>
            <a:r>
              <a:rPr sz="900" b="1">
                <a:solidFill>
                  <a:srgbClr val="45AFFF"/>
                </a:solidFill>
              </a:rPr>
              <a:t>03</a:t>
            </a:r>
          </a:p>
        </p:txBody>
      </p:sp>
      <p:sp>
        <p:nvSpPr>
          <p:cNvPr id="15" name="">
            <a:extLst xmlns:a="http://schemas.openxmlformats.org/drawingml/2006/main">
              <a:ext uri="{FF2B5EF4-FFF2-40B4-BE49-F238E27FC236}">
                <a16:creationId xmlns:a16="http://schemas.microsoft.com/office/drawing/2014/main" id="{5554043F-FFED-424D-AAF6-59EC554C1D1C}"/>
              </a:ext>
            </a:extLst>
          </p:cNvPr>
          <p:cNvSpPr>
            <a:spLocks xmlns:a="http://schemas.openxmlformats.org/drawingml/2006/main" noGrp="1"/>
          </p:cNvSpPr>
          <p:nvPr/>
        </p:nvSpPr>
        <p:spPr>
          <a:xfrm xmlns:a="http://schemas.openxmlformats.org/drawingml/2006/main">
            <a:off x="4533900" y="291465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7F4"/>
                </a:solidFill>
              </a:defRPr>
            </a:pPr>
            <a:r>
              <a:rPr sz="1500" b="1">
                <a:solidFill>
                  <a:srgbClr val="F4F7F4"/>
                </a:solidFill>
              </a:rPr>
              <a:t>Review</a:t>
            </a:r>
          </a:p>
        </p:txBody>
      </p:sp>
      <p:sp>
        <p:nvSpPr>
          <p:cNvPr id="16" name="">
            <a:extLst xmlns:a="http://schemas.openxmlformats.org/drawingml/2006/main">
              <a:ext uri="{FF2B5EF4-FFF2-40B4-BE49-F238E27FC236}">
                <a16:creationId xmlns:a16="http://schemas.microsoft.com/office/drawing/2014/main" id="{39E7B9C6-5C18-47B2-B36D-11208DBD2D49}"/>
              </a:ext>
            </a:extLst>
          </p:cNvPr>
          <p:cNvSpPr>
            <a:spLocks xmlns:a="http://schemas.openxmlformats.org/drawingml/2006/main" noGrp="1"/>
          </p:cNvSpPr>
          <p:nvPr/>
        </p:nvSpPr>
        <p:spPr>
          <a:xfrm xmlns:a="http://schemas.openxmlformats.org/drawingml/2006/main">
            <a:off x="4533900" y="3371850"/>
            <a:ext cx="1123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A5B0A8"/>
                </a:solidFill>
              </a:defRPr>
            </a:pPr>
            <a:r>
              <a:rPr sz="1050" b="0">
                <a:solidFill>
                  <a:srgbClr val="A5B0A8"/>
                </a:solidFill>
              </a:rPr>
              <a:t>4 bounded stages</a:t>
            </a:r>
          </a:p>
        </p:txBody>
      </p:sp>
      <p:sp>
        <p:nvSpPr>
          <p:cNvPr id="17" name="">
            <a:extLst xmlns:a="http://schemas.openxmlformats.org/drawingml/2006/main">
              <a:ext uri="{FF2B5EF4-FFF2-40B4-BE49-F238E27FC236}">
                <a16:creationId xmlns:a16="http://schemas.microsoft.com/office/drawing/2014/main" id="{414C7963-451B-4003-BE77-B0ED9B880E24}"/>
              </a:ext>
            </a:extLst>
          </p:cNvPr>
          <p:cNvSpPr>
            <a:spLocks xmlns:a="http://schemas.openxmlformats.org/drawingml/2006/main" noGrp="1"/>
          </p:cNvSpPr>
          <p:nvPr/>
        </p:nvSpPr>
        <p:spPr>
          <a:xfrm xmlns:a="http://schemas.openxmlformats.org/drawingml/2006/main">
            <a:off x="5886450" y="2838450"/>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45AFFF"/>
                </a:solidFill>
              </a:defRPr>
            </a:pPr>
            <a:r>
              <a:rPr sz="1875" b="1">
                <a:solidFill>
                  <a:srgbClr val="45AFFF"/>
                </a:solidFill>
              </a:rPr>
              <a:t>→</a:t>
            </a:r>
          </a:p>
        </p:txBody>
      </p:sp>
      <p:sp>
        <p:nvSpPr>
          <p:cNvPr id="18" name="">
            <a:extLst xmlns:a="http://schemas.openxmlformats.org/drawingml/2006/main">
              <a:ext uri="{FF2B5EF4-FFF2-40B4-BE49-F238E27FC236}">
                <a16:creationId xmlns:a16="http://schemas.microsoft.com/office/drawing/2014/main" id="{FE48507A-19EC-4305-AFE0-1B9BD766B3E5}"/>
              </a:ext>
            </a:extLst>
          </p:cNvPr>
          <p:cNvSpPr>
            <a:spLocks xmlns:a="http://schemas.openxmlformats.org/drawingml/2006/main" noGrp="1"/>
          </p:cNvSpPr>
          <p:nvPr/>
        </p:nvSpPr>
        <p:spPr>
          <a:xfrm xmlns:a="http://schemas.openxmlformats.org/drawingml/2006/main">
            <a:off x="6238875" y="2381250"/>
            <a:ext cx="1428750" cy="1409700"/>
          </a:xfrm>
          <a:prstGeom xmlns:a="http://schemas.openxmlformats.org/drawingml/2006/main" prst="roundRect">
            <a:avLst>
              <a:gd name="adj" fmla="val 10811"/>
            </a:avLst>
          </a:prstGeom>
          <a:solidFill xmlns:a="http://schemas.openxmlformats.org/drawingml/2006/main">
            <a:srgbClr val="0B100D"/>
          </a:solidFill>
          <a:ln xmlns:a="http://schemas.openxmlformats.org/drawingml/2006/main" w="9525">
            <a:solidFill>
              <a:srgbClr val="253029"/>
            </a:solidFill>
            <a:prstDash val="solid"/>
          </a:ln>
        </p:spPr>
      </p:sp>
      <p:sp>
        <p:nvSpPr>
          <p:cNvPr id="19" name="">
            <a:extLst xmlns:a="http://schemas.openxmlformats.org/drawingml/2006/main">
              <a:ext uri="{FF2B5EF4-FFF2-40B4-BE49-F238E27FC236}">
                <a16:creationId xmlns:a16="http://schemas.microsoft.com/office/drawing/2014/main" id="{6F1F8DA7-E2CA-4C42-83AF-7456BE01A7AA}"/>
              </a:ext>
            </a:extLst>
          </p:cNvPr>
          <p:cNvSpPr>
            <a:spLocks xmlns:a="http://schemas.openxmlformats.org/drawingml/2006/main" noGrp="1"/>
          </p:cNvSpPr>
          <p:nvPr/>
        </p:nvSpPr>
        <p:spPr>
          <a:xfrm xmlns:a="http://schemas.openxmlformats.org/drawingml/2006/main">
            <a:off x="6391275" y="25527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5AFFF"/>
                </a:solidFill>
              </a:defRPr>
            </a:pPr>
            <a:r>
              <a:rPr sz="900" b="1">
                <a:solidFill>
                  <a:srgbClr val="45AFFF"/>
                </a:solidFill>
              </a:rPr>
              <a:t>04</a:t>
            </a:r>
          </a:p>
        </p:txBody>
      </p:sp>
      <p:sp>
        <p:nvSpPr>
          <p:cNvPr id="20" name="">
            <a:extLst xmlns:a="http://schemas.openxmlformats.org/drawingml/2006/main">
              <a:ext uri="{FF2B5EF4-FFF2-40B4-BE49-F238E27FC236}">
                <a16:creationId xmlns:a16="http://schemas.microsoft.com/office/drawing/2014/main" id="{077CEAF9-E36F-4411-A445-5E8E9479971C}"/>
              </a:ext>
            </a:extLst>
          </p:cNvPr>
          <p:cNvSpPr>
            <a:spLocks xmlns:a="http://schemas.openxmlformats.org/drawingml/2006/main" noGrp="1"/>
          </p:cNvSpPr>
          <p:nvPr/>
        </p:nvSpPr>
        <p:spPr>
          <a:xfrm xmlns:a="http://schemas.openxmlformats.org/drawingml/2006/main">
            <a:off x="6391275" y="291465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7F4"/>
                </a:solidFill>
              </a:defRPr>
            </a:pPr>
            <a:r>
              <a:rPr sz="1500" b="1">
                <a:solidFill>
                  <a:srgbClr val="F4F7F4"/>
                </a:solidFill>
              </a:rPr>
              <a:t>Freeze</a:t>
            </a:r>
          </a:p>
        </p:txBody>
      </p:sp>
      <p:sp>
        <p:nvSpPr>
          <p:cNvPr id="21" name="">
            <a:extLst xmlns:a="http://schemas.openxmlformats.org/drawingml/2006/main">
              <a:ext uri="{FF2B5EF4-FFF2-40B4-BE49-F238E27FC236}">
                <a16:creationId xmlns:a16="http://schemas.microsoft.com/office/drawing/2014/main" id="{C53AA778-324C-48B7-B3B2-FFD6B619E0B1}"/>
              </a:ext>
            </a:extLst>
          </p:cNvPr>
          <p:cNvSpPr>
            <a:spLocks xmlns:a="http://schemas.openxmlformats.org/drawingml/2006/main" noGrp="1"/>
          </p:cNvSpPr>
          <p:nvPr/>
        </p:nvSpPr>
        <p:spPr>
          <a:xfrm xmlns:a="http://schemas.openxmlformats.org/drawingml/2006/main">
            <a:off x="6391275" y="3371850"/>
            <a:ext cx="1123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A5B0A8"/>
                </a:solidFill>
              </a:defRPr>
            </a:pPr>
            <a:r>
              <a:rPr sz="1050" b="0">
                <a:solidFill>
                  <a:srgbClr val="A5B0A8"/>
                </a:solidFill>
              </a:rPr>
              <a:t>ledger + plan hashes</a:t>
            </a:r>
          </a:p>
        </p:txBody>
      </p:sp>
      <p:sp>
        <p:nvSpPr>
          <p:cNvPr id="22" name="">
            <a:extLst xmlns:a="http://schemas.openxmlformats.org/drawingml/2006/main">
              <a:ext uri="{FF2B5EF4-FFF2-40B4-BE49-F238E27FC236}">
                <a16:creationId xmlns:a16="http://schemas.microsoft.com/office/drawing/2014/main" id="{31BC4913-8FF3-45EF-AE98-38C7C1A699A4}"/>
              </a:ext>
            </a:extLst>
          </p:cNvPr>
          <p:cNvSpPr>
            <a:spLocks xmlns:a="http://schemas.openxmlformats.org/drawingml/2006/main" noGrp="1"/>
          </p:cNvSpPr>
          <p:nvPr/>
        </p:nvSpPr>
        <p:spPr>
          <a:xfrm xmlns:a="http://schemas.openxmlformats.org/drawingml/2006/main">
            <a:off x="7743825" y="2838450"/>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45AFFF"/>
                </a:solidFill>
              </a:defRPr>
            </a:pPr>
            <a:r>
              <a:rPr sz="1875" b="1">
                <a:solidFill>
                  <a:srgbClr val="45AFFF"/>
                </a:solidFill>
              </a:rPr>
              <a:t>→</a:t>
            </a:r>
          </a:p>
        </p:txBody>
      </p:sp>
      <p:sp>
        <p:nvSpPr>
          <p:cNvPr id="23" name="">
            <a:extLst xmlns:a="http://schemas.openxmlformats.org/drawingml/2006/main">
              <a:ext uri="{FF2B5EF4-FFF2-40B4-BE49-F238E27FC236}">
                <a16:creationId xmlns:a16="http://schemas.microsoft.com/office/drawing/2014/main" id="{6EF8A2A2-AD7F-4379-A028-FF56493FDAAC}"/>
              </a:ext>
            </a:extLst>
          </p:cNvPr>
          <p:cNvSpPr>
            <a:spLocks xmlns:a="http://schemas.openxmlformats.org/drawingml/2006/main" noGrp="1"/>
          </p:cNvSpPr>
          <p:nvPr/>
        </p:nvSpPr>
        <p:spPr>
          <a:xfrm xmlns:a="http://schemas.openxmlformats.org/drawingml/2006/main">
            <a:off x="8096250" y="2381250"/>
            <a:ext cx="1428750" cy="1409700"/>
          </a:xfrm>
          <a:prstGeom xmlns:a="http://schemas.openxmlformats.org/drawingml/2006/main" prst="roundRect">
            <a:avLst>
              <a:gd name="adj" fmla="val 10811"/>
            </a:avLst>
          </a:prstGeom>
          <a:solidFill xmlns:a="http://schemas.openxmlformats.org/drawingml/2006/main">
            <a:srgbClr val="0B100D"/>
          </a:solidFill>
          <a:ln xmlns:a="http://schemas.openxmlformats.org/drawingml/2006/main" w="9525">
            <a:solidFill>
              <a:srgbClr val="253029"/>
            </a:solidFill>
            <a:prstDash val="solid"/>
          </a:ln>
        </p:spPr>
      </p:sp>
      <p:sp>
        <p:nvSpPr>
          <p:cNvPr id="24" name="">
            <a:extLst xmlns:a="http://schemas.openxmlformats.org/drawingml/2006/main">
              <a:ext uri="{FF2B5EF4-FFF2-40B4-BE49-F238E27FC236}">
                <a16:creationId xmlns:a16="http://schemas.microsoft.com/office/drawing/2014/main" id="{24A9EF4A-FAF9-4110-8DF6-113DC4A00179}"/>
              </a:ext>
            </a:extLst>
          </p:cNvPr>
          <p:cNvSpPr>
            <a:spLocks xmlns:a="http://schemas.openxmlformats.org/drawingml/2006/main" noGrp="1"/>
          </p:cNvSpPr>
          <p:nvPr/>
        </p:nvSpPr>
        <p:spPr>
          <a:xfrm xmlns:a="http://schemas.openxmlformats.org/drawingml/2006/main">
            <a:off x="8248650" y="25527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5AFFF"/>
                </a:solidFill>
              </a:defRPr>
            </a:pPr>
            <a:r>
              <a:rPr sz="900" b="1">
                <a:solidFill>
                  <a:srgbClr val="45AFFF"/>
                </a:solidFill>
              </a:rPr>
              <a:t>05</a:t>
            </a:r>
          </a:p>
        </p:txBody>
      </p:sp>
      <p:sp>
        <p:nvSpPr>
          <p:cNvPr id="25" name="">
            <a:extLst xmlns:a="http://schemas.openxmlformats.org/drawingml/2006/main">
              <a:ext uri="{FF2B5EF4-FFF2-40B4-BE49-F238E27FC236}">
                <a16:creationId xmlns:a16="http://schemas.microsoft.com/office/drawing/2014/main" id="{76547AAF-D6B9-42B5-BA48-31EE9A6357EC}"/>
              </a:ext>
            </a:extLst>
          </p:cNvPr>
          <p:cNvSpPr>
            <a:spLocks xmlns:a="http://schemas.openxmlformats.org/drawingml/2006/main" noGrp="1"/>
          </p:cNvSpPr>
          <p:nvPr/>
        </p:nvSpPr>
        <p:spPr>
          <a:xfrm xmlns:a="http://schemas.openxmlformats.org/drawingml/2006/main">
            <a:off x="8248650" y="291465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7F4"/>
                </a:solidFill>
              </a:defRPr>
            </a:pPr>
            <a:r>
              <a:rPr sz="1500" b="1">
                <a:solidFill>
                  <a:srgbClr val="F4F7F4"/>
                </a:solidFill>
              </a:rPr>
              <a:t>Consent</a:t>
            </a:r>
          </a:p>
        </p:txBody>
      </p:sp>
      <p:sp>
        <p:nvSpPr>
          <p:cNvPr id="26" name="">
            <a:extLst xmlns:a="http://schemas.openxmlformats.org/drawingml/2006/main">
              <a:ext uri="{FF2B5EF4-FFF2-40B4-BE49-F238E27FC236}">
                <a16:creationId xmlns:a16="http://schemas.microsoft.com/office/drawing/2014/main" id="{74487877-F6B8-4499-B973-2570E4035A42}"/>
              </a:ext>
            </a:extLst>
          </p:cNvPr>
          <p:cNvSpPr>
            <a:spLocks xmlns:a="http://schemas.openxmlformats.org/drawingml/2006/main" noGrp="1"/>
          </p:cNvSpPr>
          <p:nvPr/>
        </p:nvSpPr>
        <p:spPr>
          <a:xfrm xmlns:a="http://schemas.openxmlformats.org/drawingml/2006/main">
            <a:off x="8248650" y="3371850"/>
            <a:ext cx="1123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A5B0A8"/>
                </a:solidFill>
              </a:defRPr>
            </a:pPr>
            <a:r>
              <a:rPr sz="1050" b="0">
                <a:solidFill>
                  <a:srgbClr val="A5B0A8"/>
                </a:solidFill>
              </a:rPr>
              <a:t>external dual signatures</a:t>
            </a:r>
          </a:p>
        </p:txBody>
      </p:sp>
      <p:sp>
        <p:nvSpPr>
          <p:cNvPr id="27" name="">
            <a:extLst xmlns:a="http://schemas.openxmlformats.org/drawingml/2006/main">
              <a:ext uri="{FF2B5EF4-FFF2-40B4-BE49-F238E27FC236}">
                <a16:creationId xmlns:a16="http://schemas.microsoft.com/office/drawing/2014/main" id="{B66F7E68-4816-4F9F-A599-E4BFCCE51711}"/>
              </a:ext>
            </a:extLst>
          </p:cNvPr>
          <p:cNvSpPr>
            <a:spLocks xmlns:a="http://schemas.openxmlformats.org/drawingml/2006/main" noGrp="1"/>
          </p:cNvSpPr>
          <p:nvPr/>
        </p:nvSpPr>
        <p:spPr>
          <a:xfrm xmlns:a="http://schemas.openxmlformats.org/drawingml/2006/main">
            <a:off x="9601200" y="2838450"/>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45AFFF"/>
                </a:solidFill>
              </a:defRPr>
            </a:pPr>
            <a:r>
              <a:rPr sz="1875" b="1">
                <a:solidFill>
                  <a:srgbClr val="45AFFF"/>
                </a:solidFill>
              </a:rPr>
              <a:t>→</a:t>
            </a:r>
          </a:p>
        </p:txBody>
      </p:sp>
      <p:sp>
        <p:nvSpPr>
          <p:cNvPr id="28" name="">
            <a:extLst xmlns:a="http://schemas.openxmlformats.org/drawingml/2006/main">
              <a:ext uri="{FF2B5EF4-FFF2-40B4-BE49-F238E27FC236}">
                <a16:creationId xmlns:a16="http://schemas.microsoft.com/office/drawing/2014/main" id="{0133F6DB-227B-42DA-B356-D7A0A2DD6108}"/>
              </a:ext>
            </a:extLst>
          </p:cNvPr>
          <p:cNvSpPr>
            <a:spLocks xmlns:a="http://schemas.openxmlformats.org/drawingml/2006/main" noGrp="1"/>
          </p:cNvSpPr>
          <p:nvPr/>
        </p:nvSpPr>
        <p:spPr>
          <a:xfrm xmlns:a="http://schemas.openxmlformats.org/drawingml/2006/main">
            <a:off x="9953625" y="2381250"/>
            <a:ext cx="1428750" cy="1409700"/>
          </a:xfrm>
          <a:prstGeom xmlns:a="http://schemas.openxmlformats.org/drawingml/2006/main" prst="roundRect">
            <a:avLst>
              <a:gd name="adj" fmla="val 10811"/>
            </a:avLst>
          </a:prstGeom>
          <a:solidFill xmlns:a="http://schemas.openxmlformats.org/drawingml/2006/main">
            <a:srgbClr val="112014"/>
          </a:solidFill>
          <a:ln xmlns:a="http://schemas.openxmlformats.org/drawingml/2006/main" w="9525">
            <a:solidFill>
              <a:srgbClr val="C8FF3D"/>
            </a:solidFill>
            <a:prstDash val="solid"/>
          </a:ln>
        </p:spPr>
      </p:sp>
      <p:sp>
        <p:nvSpPr>
          <p:cNvPr id="29" name="">
            <a:extLst xmlns:a="http://schemas.openxmlformats.org/drawingml/2006/main">
              <a:ext uri="{FF2B5EF4-FFF2-40B4-BE49-F238E27FC236}">
                <a16:creationId xmlns:a16="http://schemas.microsoft.com/office/drawing/2014/main" id="{09036F70-04D4-4A5F-A78F-CFC510D29FD1}"/>
              </a:ext>
            </a:extLst>
          </p:cNvPr>
          <p:cNvSpPr>
            <a:spLocks xmlns:a="http://schemas.openxmlformats.org/drawingml/2006/main" noGrp="1"/>
          </p:cNvSpPr>
          <p:nvPr/>
        </p:nvSpPr>
        <p:spPr>
          <a:xfrm xmlns:a="http://schemas.openxmlformats.org/drawingml/2006/main">
            <a:off x="10106025" y="25527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C8FF3D"/>
                </a:solidFill>
              </a:defRPr>
            </a:pPr>
            <a:r>
              <a:rPr sz="900" b="1">
                <a:solidFill>
                  <a:srgbClr val="C8FF3D"/>
                </a:solidFill>
              </a:rPr>
              <a:t>06</a:t>
            </a:r>
          </a:p>
        </p:txBody>
      </p:sp>
      <p:sp>
        <p:nvSpPr>
          <p:cNvPr id="30" name="">
            <a:extLst xmlns:a="http://schemas.openxmlformats.org/drawingml/2006/main">
              <a:ext uri="{FF2B5EF4-FFF2-40B4-BE49-F238E27FC236}">
                <a16:creationId xmlns:a16="http://schemas.microsoft.com/office/drawing/2014/main" id="{F62DDCAB-B226-4EB2-B012-7F14B8F76694}"/>
              </a:ext>
            </a:extLst>
          </p:cNvPr>
          <p:cNvSpPr>
            <a:spLocks xmlns:a="http://schemas.openxmlformats.org/drawingml/2006/main" noGrp="1"/>
          </p:cNvSpPr>
          <p:nvPr/>
        </p:nvSpPr>
        <p:spPr>
          <a:xfrm xmlns:a="http://schemas.openxmlformats.org/drawingml/2006/main">
            <a:off x="10106025" y="291465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7F4"/>
                </a:solidFill>
              </a:defRPr>
            </a:pPr>
            <a:r>
              <a:rPr sz="1500" b="1">
                <a:solidFill>
                  <a:srgbClr val="F4F7F4"/>
                </a:solidFill>
              </a:rPr>
              <a:t>Execute + prove</a:t>
            </a:r>
          </a:p>
        </p:txBody>
      </p:sp>
      <p:sp>
        <p:nvSpPr>
          <p:cNvPr id="31" name="">
            <a:extLst xmlns:a="http://schemas.openxmlformats.org/drawingml/2006/main">
              <a:ext uri="{FF2B5EF4-FFF2-40B4-BE49-F238E27FC236}">
                <a16:creationId xmlns:a16="http://schemas.microsoft.com/office/drawing/2014/main" id="{57C05D3F-942A-4860-9A13-A503C35B3C9E}"/>
              </a:ext>
            </a:extLst>
          </p:cNvPr>
          <p:cNvSpPr>
            <a:spLocks xmlns:a="http://schemas.openxmlformats.org/drawingml/2006/main" noGrp="1"/>
          </p:cNvSpPr>
          <p:nvPr/>
        </p:nvSpPr>
        <p:spPr>
          <a:xfrm xmlns:a="http://schemas.openxmlformats.org/drawingml/2006/main">
            <a:off x="10106025" y="3371850"/>
            <a:ext cx="1123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A5B0A8"/>
                </a:solidFill>
              </a:defRPr>
            </a:pPr>
            <a:r>
              <a:rPr sz="1050" b="0">
                <a:solidFill>
                  <a:srgbClr val="A5B0A8"/>
                </a:solidFill>
              </a:rPr>
              <a:t>KeeperHub + RPC</a:t>
            </a:r>
          </a:p>
        </p:txBody>
      </p:sp>
      <p:sp>
        <p:nvSpPr>
          <p:cNvPr id="32" name="">
            <a:extLst xmlns:a="http://schemas.openxmlformats.org/drawingml/2006/main">
              <a:ext uri="{FF2B5EF4-FFF2-40B4-BE49-F238E27FC236}">
                <a16:creationId xmlns:a16="http://schemas.microsoft.com/office/drawing/2014/main" id="{9CF5D9FE-77EA-4C08-9650-BFAF23312BFE}"/>
              </a:ext>
            </a:extLst>
          </p:cNvPr>
          <p:cNvSpPr>
            <a:spLocks xmlns:a="http://schemas.openxmlformats.org/drawingml/2006/main" noGrp="1"/>
          </p:cNvSpPr>
          <p:nvPr/>
        </p:nvSpPr>
        <p:spPr>
          <a:xfrm xmlns:a="http://schemas.openxmlformats.org/drawingml/2006/main">
            <a:off x="1143000" y="4476750"/>
            <a:ext cx="990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C8FF3D"/>
                </a:solidFill>
              </a:defRPr>
            </a:pPr>
            <a:r>
              <a:rPr sz="1650" b="1">
                <a:solidFill>
                  <a:srgbClr val="C8FF3D"/>
                </a:solidFill>
              </a:rPr>
              <a:t>Bounded audit memory retains input, stage events and evidence hashes—never policy, code or keys.</a:t>
            </a:r>
          </a:p>
        </p:txBody>
      </p:sp>
      <p:sp>
        <p:nvSpPr>
          <p:cNvPr id="33" name="">
            <a:extLst xmlns:a="http://schemas.openxmlformats.org/drawingml/2006/main">
              <a:ext uri="{FF2B5EF4-FFF2-40B4-BE49-F238E27FC236}">
                <a16:creationId xmlns:a16="http://schemas.microsoft.com/office/drawing/2014/main" id="{62F05BD9-C8D1-40F6-AC5A-1623CF17B048}"/>
              </a:ext>
            </a:extLst>
          </p:cNvPr>
          <p:cNvSpPr>
            <a:spLocks xmlns:a="http://schemas.openxmlformats.org/drawingml/2006/main" noGrp="1"/>
          </p:cNvSpPr>
          <p:nvPr/>
        </p:nvSpPr>
        <p:spPr>
          <a:xfrm xmlns:a="http://schemas.openxmlformats.org/drawingml/2006/main">
            <a:off x="1143000" y="5314950"/>
            <a:ext cx="990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A5B0A8"/>
                </a:solidFill>
              </a:defRPr>
            </a:pPr>
            <a:r>
              <a:rPr sz="1350" b="0">
                <a:solidFill>
                  <a:srgbClr val="A5B0A8"/>
                </a:solidFill>
              </a:rPr>
              <a:t>Any upstream edit invalidates review. Any stale, replayed, mutated or imbalanced plan reverts.</a:t>
            </a:r>
          </a:p>
        </p:txBody>
      </p:sp>
      <p:sp>
        <p:nvSpPr>
          <p:cNvPr id="34" name="">
            <a:extLst xmlns:a="http://schemas.openxmlformats.org/drawingml/2006/main">
              <a:ext uri="{FF2B5EF4-FFF2-40B4-BE49-F238E27FC236}">
                <a16:creationId xmlns:a16="http://schemas.microsoft.com/office/drawing/2014/main" id="{37CF6B53-6DD4-42AE-AA33-9162EE07FDE8}"/>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A5B0A8"/>
                </a:solidFill>
              </a:defRPr>
            </a:pPr>
            <a:r>
              <a:rPr sz="825" b="0">
                <a:solidFill>
                  <a:srgbClr val="A5B0A8"/>
                </a:solidFill>
              </a:rPr>
              <a:t>FINALTab  •  KeeperHub Agents Onchain</a:t>
            </a:r>
          </a:p>
        </p:txBody>
      </p:sp>
      <p:sp>
        <p:nvSpPr>
          <p:cNvPr id="35" name="">
            <a:extLst xmlns:a="http://schemas.openxmlformats.org/drawingml/2006/main">
              <a:ext uri="{FF2B5EF4-FFF2-40B4-BE49-F238E27FC236}">
                <a16:creationId xmlns:a16="http://schemas.microsoft.com/office/drawing/2014/main" id="{5E5347F9-4EAC-4576-BCA0-670017FB8D36}"/>
              </a:ext>
            </a:extLst>
          </p:cNvPr>
          <p:cNvSpPr>
            <a:spLocks xmlns:a="http://schemas.openxmlformats.org/drawingml/2006/main" noGrp="1"/>
          </p:cNvSpPr>
          <p:nvPr/>
        </p:nvSpPr>
        <p:spPr>
          <a:xfrm xmlns:a="http://schemas.openxmlformats.org/drawingml/2006/main">
            <a:off x="11144250" y="65151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A5B0A8"/>
                </a:solidFill>
              </a:defRPr>
            </a:pPr>
            <a:r>
              <a:rPr sz="825" b="1">
                <a:solidFill>
                  <a:srgbClr val="A5B0A8"/>
                </a:solidFill>
              </a:rPr>
              <a:t>03</a:t>
            </a:r>
          </a:p>
        </p:txBody>
      </p:sp>
    </p:spTree>
    <p:extLst>
      <p:ext uri="{BB962C8B-B14F-4D97-AF65-F5344CB8AC3E}">
        <p14:creationId xmlns:p14="http://schemas.microsoft.com/office/powerpoint/2010/main" val="1406260906"/>
      </p:ext>
    </p:extLst>
  </p:cSld>
</p:sld>
</file>

<file path=ppt/slides/slide4.xml><?xml version="1.0" encoding="utf-8"?>
<p:sld xmlns:p="http://schemas.openxmlformats.org/presentationml/2006/main">
  <p:cSld>
    <p:bg>
      <p:bgPr>
        <a:solidFill xmlns:a="http://schemas.openxmlformats.org/drawingml/2006/main">
          <a:srgbClr val="05070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776A6DF-E84E-48C0-92FA-39480721ABDC}"/>
              </a:ext>
            </a:extLst>
          </p:cNvPr>
          <p:cNvSpPr>
            <a:spLocks xmlns:a="http://schemas.openxmlformats.org/drawingml/2006/main" noGrp="1"/>
          </p:cNvSpPr>
          <p:nvPr/>
        </p:nvSpPr>
        <p:spPr>
          <a:xfrm xmlns:a="http://schemas.openxmlformats.org/drawingml/2006/main">
            <a:off x="685800" y="45720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8FF3D"/>
                </a:solidFill>
              </a:defRPr>
            </a:pPr>
            <a:r>
              <a:rPr sz="1050" b="1">
                <a:solidFill>
                  <a:srgbClr val="C8FF3D"/>
                </a:solidFill>
              </a:rPr>
              <a:t>BOUNDED AGENT MEMORY</a:t>
            </a:r>
          </a:p>
        </p:txBody>
      </p:sp>
      <p:sp>
        <p:nvSpPr>
          <p:cNvPr id="2" name="">
            <a:extLst xmlns:a="http://schemas.openxmlformats.org/drawingml/2006/main">
              <a:ext uri="{FF2B5EF4-FFF2-40B4-BE49-F238E27FC236}">
                <a16:creationId xmlns:a16="http://schemas.microsoft.com/office/drawing/2014/main" id="{559D0CAE-C5DA-437F-9F48-3D9B6D43A408}"/>
              </a:ext>
            </a:extLst>
          </p:cNvPr>
          <p:cNvSpPr>
            <a:spLocks xmlns:a="http://schemas.openxmlformats.org/drawingml/2006/main" noGrp="1"/>
          </p:cNvSpPr>
          <p:nvPr/>
        </p:nvSpPr>
        <p:spPr>
          <a:xfrm xmlns:a="http://schemas.openxmlformats.org/drawingml/2006/main">
            <a:off x="685800" y="78105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4F7F4"/>
                </a:solidFill>
              </a:defRPr>
            </a:pPr>
            <a:r>
              <a:rPr sz="3150" b="1">
                <a:solidFill>
                  <a:srgbClr val="F4F7F4"/>
                </a:solidFill>
              </a:rPr>
              <a:t>The agents leave evidence—not mystery</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18c521cb12c454b"/>
          <a:stretch xmlns:a="http://schemas.openxmlformats.org/drawingml/2006/main"/>
        </p:blipFill>
        <p:spPr>
          <a:xfrm xmlns:a="http://schemas.openxmlformats.org/drawingml/2006/main">
            <a:off x="2149409" y="1619250"/>
            <a:ext cx="5111881" cy="4476750"/>
          </a:xfrm>
          <a:prstGeom xmlns:a="http://schemas.openxmlformats.org/drawingml/2006/main" prst="roundRect">
            <a:avLst>
              <a:gd name="adj" fmla="val 2553"/>
            </a:avLst>
          </a:prstGeom>
        </p:spPr>
      </p:pic>
      <p:sp>
        <p:nvSpPr>
          <p:cNvPr id="4" name="">
            <a:extLst xmlns:a="http://schemas.openxmlformats.org/drawingml/2006/main">
              <a:ext uri="{FF2B5EF4-FFF2-40B4-BE49-F238E27FC236}">
                <a16:creationId xmlns:a16="http://schemas.microsoft.com/office/drawing/2014/main" id="{C4542420-4135-4E00-BFAA-7EF39C30FD0E}"/>
              </a:ext>
            </a:extLst>
          </p:cNvPr>
          <p:cNvSpPr>
            <a:spLocks xmlns:a="http://schemas.openxmlformats.org/drawingml/2006/main" noGrp="1"/>
          </p:cNvSpPr>
          <p:nvPr/>
        </p:nvSpPr>
        <p:spPr>
          <a:xfrm xmlns:a="http://schemas.openxmlformats.org/drawingml/2006/main">
            <a:off x="9239250" y="18097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45AFFF"/>
                </a:solidFill>
              </a:defRPr>
            </a:pPr>
            <a:r>
              <a:rPr sz="1050" b="1">
                <a:solidFill>
                  <a:srgbClr val="45AFFF"/>
                </a:solidFill>
              </a:rPr>
              <a:t>INPUT</a:t>
            </a:r>
          </a:p>
        </p:txBody>
      </p:sp>
      <p:sp>
        <p:nvSpPr>
          <p:cNvPr id="5" name="">
            <a:extLst xmlns:a="http://schemas.openxmlformats.org/drawingml/2006/main">
              <a:ext uri="{FF2B5EF4-FFF2-40B4-BE49-F238E27FC236}">
                <a16:creationId xmlns:a16="http://schemas.microsoft.com/office/drawing/2014/main" id="{34FCE909-8560-491C-AEA7-917884AEEB20}"/>
              </a:ext>
            </a:extLst>
          </p:cNvPr>
          <p:cNvSpPr>
            <a:spLocks xmlns:a="http://schemas.openxmlformats.org/drawingml/2006/main" noGrp="1"/>
          </p:cNvSpPr>
          <p:nvPr/>
        </p:nvSpPr>
        <p:spPr>
          <a:xfrm xmlns:a="http://schemas.openxmlformats.org/drawingml/2006/main">
            <a:off x="9239250" y="21526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F4F7F4"/>
                </a:solidFill>
              </a:defRPr>
            </a:pPr>
            <a:r>
              <a:rPr sz="1800" b="1">
                <a:solidFill>
                  <a:srgbClr val="F4F7F4"/>
                </a:solidFill>
              </a:rPr>
              <a:t>→ 4 fixed reviews</a:t>
            </a:r>
          </a:p>
        </p:txBody>
      </p:sp>
      <p:sp>
        <p:nvSpPr>
          <p:cNvPr id="6" name="">
            <a:extLst xmlns:a="http://schemas.openxmlformats.org/drawingml/2006/main">
              <a:ext uri="{FF2B5EF4-FFF2-40B4-BE49-F238E27FC236}">
                <a16:creationId xmlns:a16="http://schemas.microsoft.com/office/drawing/2014/main" id="{BCA47A3B-2676-4849-BFF9-9F7F3C193E88}"/>
              </a:ext>
            </a:extLst>
          </p:cNvPr>
          <p:cNvSpPr>
            <a:spLocks xmlns:a="http://schemas.openxmlformats.org/drawingml/2006/main" noGrp="1"/>
          </p:cNvSpPr>
          <p:nvPr/>
        </p:nvSpPr>
        <p:spPr>
          <a:xfrm xmlns:a="http://schemas.openxmlformats.org/drawingml/2006/main">
            <a:off x="9239250" y="26670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F4F7F4"/>
                </a:solidFill>
              </a:defRPr>
            </a:pPr>
            <a:r>
              <a:rPr sz="1800" b="1">
                <a:solidFill>
                  <a:srgbClr val="F4F7F4"/>
                </a:solidFill>
              </a:rPr>
              <a:t>→ compact audit memory</a:t>
            </a:r>
          </a:p>
        </p:txBody>
      </p:sp>
      <p:sp>
        <p:nvSpPr>
          <p:cNvPr id="7" name="">
            <a:extLst xmlns:a="http://schemas.openxmlformats.org/drawingml/2006/main">
              <a:ext uri="{FF2B5EF4-FFF2-40B4-BE49-F238E27FC236}">
                <a16:creationId xmlns:a16="http://schemas.microsoft.com/office/drawing/2014/main" id="{F0ED2034-7F7D-43A9-B068-C228726EE3F2}"/>
              </a:ext>
            </a:extLst>
          </p:cNvPr>
          <p:cNvSpPr>
            <a:spLocks xmlns:a="http://schemas.openxmlformats.org/drawingml/2006/main" noGrp="1"/>
          </p:cNvSpPr>
          <p:nvPr/>
        </p:nvSpPr>
        <p:spPr>
          <a:xfrm xmlns:a="http://schemas.openxmlformats.org/drawingml/2006/main">
            <a:off x="9239250" y="36385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C8FF3D"/>
                </a:solidFill>
              </a:defRPr>
            </a:pPr>
            <a:r>
              <a:rPr sz="1350" b="1">
                <a:solidFill>
                  <a:srgbClr val="C8FF3D"/>
                </a:solidFill>
              </a:rPr>
              <a:t>Real nodes only</a:t>
            </a:r>
          </a:p>
        </p:txBody>
      </p:sp>
      <p:sp>
        <p:nvSpPr>
          <p:cNvPr id="8" name="">
            <a:extLst xmlns:a="http://schemas.openxmlformats.org/drawingml/2006/main">
              <a:ext uri="{FF2B5EF4-FFF2-40B4-BE49-F238E27FC236}">
                <a16:creationId xmlns:a16="http://schemas.microsoft.com/office/drawing/2014/main" id="{0B755E6B-E553-4E3A-979F-5BB845459A41}"/>
              </a:ext>
            </a:extLst>
          </p:cNvPr>
          <p:cNvSpPr>
            <a:spLocks xmlns:a="http://schemas.openxmlformats.org/drawingml/2006/main" noGrp="1"/>
          </p:cNvSpPr>
          <p:nvPr/>
        </p:nvSpPr>
        <p:spPr>
          <a:xfrm xmlns:a="http://schemas.openxmlformats.org/drawingml/2006/main">
            <a:off x="9239250" y="4038600"/>
            <a:ext cx="2095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A5B0A8"/>
                </a:solidFill>
              </a:defRPr>
            </a:pPr>
            <a:r>
              <a:rPr sz="1275" b="0">
                <a:solidFill>
                  <a:srgbClr val="A5B0A8"/>
                </a:solidFill>
              </a:rPr>
              <a:t>Sequence-sorted stage events, evidence hashes, revisions and expiry.</a:t>
            </a:r>
          </a:p>
        </p:txBody>
      </p:sp>
      <p:sp>
        <p:nvSpPr>
          <p:cNvPr id="9" name="">
            <a:extLst xmlns:a="http://schemas.openxmlformats.org/drawingml/2006/main">
              <a:ext uri="{FF2B5EF4-FFF2-40B4-BE49-F238E27FC236}">
                <a16:creationId xmlns:a16="http://schemas.microsoft.com/office/drawing/2014/main" id="{99AF6387-6070-4385-A91E-1EE06A7498E0}"/>
              </a:ext>
            </a:extLst>
          </p:cNvPr>
          <p:cNvSpPr>
            <a:spLocks xmlns:a="http://schemas.openxmlformats.org/drawingml/2006/main" noGrp="1"/>
          </p:cNvSpPr>
          <p:nvPr/>
        </p:nvSpPr>
        <p:spPr>
          <a:xfrm xmlns:a="http://schemas.openxmlformats.org/drawingml/2006/main">
            <a:off x="9239250" y="521970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6B64"/>
                </a:solidFill>
              </a:defRPr>
            </a:pPr>
            <a:r>
              <a:rPr sz="1275" b="1">
                <a:solidFill>
                  <a:srgbClr val="FF6B64"/>
                </a:solidFill>
              </a:rPr>
              <a:t>Cannot alter policy, source code, wallet authority or settlement truth.</a:t>
            </a:r>
          </a:p>
        </p:txBody>
      </p:sp>
      <p:sp>
        <p:nvSpPr>
          <p:cNvPr id="10" name="">
            <a:extLst xmlns:a="http://schemas.openxmlformats.org/drawingml/2006/main">
              <a:ext uri="{FF2B5EF4-FFF2-40B4-BE49-F238E27FC236}">
                <a16:creationId xmlns:a16="http://schemas.microsoft.com/office/drawing/2014/main" id="{3C9112C7-10AB-413E-B27D-185778186A14}"/>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A5B0A8"/>
                </a:solidFill>
              </a:defRPr>
            </a:pPr>
            <a:r>
              <a:rPr sz="825" b="0">
                <a:solidFill>
                  <a:srgbClr val="A5B0A8"/>
                </a:solidFill>
              </a:rPr>
              <a:t>FINALTab  •  KeeperHub Agents Onchain</a:t>
            </a:r>
          </a:p>
        </p:txBody>
      </p:sp>
      <p:sp>
        <p:nvSpPr>
          <p:cNvPr id="11" name="">
            <a:extLst xmlns:a="http://schemas.openxmlformats.org/drawingml/2006/main">
              <a:ext uri="{FF2B5EF4-FFF2-40B4-BE49-F238E27FC236}">
                <a16:creationId xmlns:a16="http://schemas.microsoft.com/office/drawing/2014/main" id="{F412438A-0238-40DD-9CA6-F50F82E491D0}"/>
              </a:ext>
            </a:extLst>
          </p:cNvPr>
          <p:cNvSpPr>
            <a:spLocks xmlns:a="http://schemas.openxmlformats.org/drawingml/2006/main" noGrp="1"/>
          </p:cNvSpPr>
          <p:nvPr/>
        </p:nvSpPr>
        <p:spPr>
          <a:xfrm xmlns:a="http://schemas.openxmlformats.org/drawingml/2006/main">
            <a:off x="11144250" y="65151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A5B0A8"/>
                </a:solidFill>
              </a:defRPr>
            </a:pPr>
            <a:r>
              <a:rPr sz="825" b="1">
                <a:solidFill>
                  <a:srgbClr val="A5B0A8"/>
                </a:solidFill>
              </a:rPr>
              <a:t>04</a:t>
            </a:r>
          </a:p>
        </p:txBody>
      </p:sp>
    </p:spTree>
    <p:extLst>
      <p:ext uri="{BB962C8B-B14F-4D97-AF65-F5344CB8AC3E}">
        <p14:creationId xmlns:p14="http://schemas.microsoft.com/office/powerpoint/2010/main" val="2139524702"/>
      </p:ext>
    </p:extLst>
  </p:cSld>
</p:sld>
</file>

<file path=ppt/slides/slide5.xml><?xml version="1.0" encoding="utf-8"?>
<p:sld xmlns:p="http://schemas.openxmlformats.org/presentationml/2006/main">
  <p:cSld>
    <p:bg>
      <p:bgPr>
        <a:solidFill xmlns:a="http://schemas.openxmlformats.org/drawingml/2006/main">
          <a:srgbClr val="05070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91D8D42-6834-44EF-9144-08DBF1AF6E5B}"/>
              </a:ext>
            </a:extLst>
          </p:cNvPr>
          <p:cNvSpPr>
            <a:spLocks xmlns:a="http://schemas.openxmlformats.org/drawingml/2006/main" noGrp="1"/>
          </p:cNvSpPr>
          <p:nvPr/>
        </p:nvSpPr>
        <p:spPr>
          <a:xfrm xmlns:a="http://schemas.openxmlformats.org/drawingml/2006/main">
            <a:off x="685800" y="45720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8FF3D"/>
                </a:solidFill>
              </a:defRPr>
            </a:pPr>
            <a:r>
              <a:rPr sz="1050" b="1">
                <a:solidFill>
                  <a:srgbClr val="C8FF3D"/>
                </a:solidFill>
              </a:rPr>
              <a:t>REAL EXECUTION EVIDENCE</a:t>
            </a:r>
          </a:p>
        </p:txBody>
      </p:sp>
      <p:sp>
        <p:nvSpPr>
          <p:cNvPr id="2" name="">
            <a:extLst xmlns:a="http://schemas.openxmlformats.org/drawingml/2006/main">
              <a:ext uri="{FF2B5EF4-FFF2-40B4-BE49-F238E27FC236}">
                <a16:creationId xmlns:a16="http://schemas.microsoft.com/office/drawing/2014/main" id="{932936E0-4F3C-46BA-838E-22F9210E3544}"/>
              </a:ext>
            </a:extLst>
          </p:cNvPr>
          <p:cNvSpPr>
            <a:spLocks xmlns:a="http://schemas.openxmlformats.org/drawingml/2006/main" noGrp="1"/>
          </p:cNvSpPr>
          <p:nvPr/>
        </p:nvSpPr>
        <p:spPr>
          <a:xfrm xmlns:a="http://schemas.openxmlformats.org/drawingml/2006/main">
            <a:off x="685800" y="78105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4F7F4"/>
                </a:solidFill>
              </a:defRPr>
            </a:pPr>
            <a:r>
              <a:rPr sz="3150" b="1">
                <a:solidFill>
                  <a:srgbClr val="F4F7F4"/>
                </a:solidFill>
              </a:rPr>
              <a:t>A transaction hash is not proof</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5347ccff3a94ad0"/>
          <a:stretch xmlns:a="http://schemas.openxmlformats.org/drawingml/2006/main"/>
        </p:blipFill>
        <p:spPr>
          <a:xfrm xmlns:a="http://schemas.openxmlformats.org/drawingml/2006/main">
            <a:off x="609600" y="1684139"/>
            <a:ext cx="7524750" cy="4232672"/>
          </a:xfrm>
          <a:prstGeom xmlns:a="http://schemas.openxmlformats.org/drawingml/2006/main" prst="roundRect">
            <a:avLst>
              <a:gd name="adj" fmla="val 2449"/>
            </a:avLst>
          </a:prstGeom>
        </p:spPr>
      </p:pic>
      <p:sp>
        <p:nvSpPr>
          <p:cNvPr id="4" name="">
            <a:extLst xmlns:a="http://schemas.openxmlformats.org/drawingml/2006/main">
              <a:ext uri="{FF2B5EF4-FFF2-40B4-BE49-F238E27FC236}">
                <a16:creationId xmlns:a16="http://schemas.microsoft.com/office/drawing/2014/main" id="{1923B0C0-9690-40AB-BCCC-B5FDE4778579}"/>
              </a:ext>
            </a:extLst>
          </p:cNvPr>
          <p:cNvSpPr>
            <a:spLocks xmlns:a="http://schemas.openxmlformats.org/drawingml/2006/main" noGrp="1"/>
          </p:cNvSpPr>
          <p:nvPr/>
        </p:nvSpPr>
        <p:spPr>
          <a:xfrm xmlns:a="http://schemas.openxmlformats.org/drawingml/2006/main">
            <a:off x="8572500" y="16192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5B0A8"/>
                </a:solidFill>
              </a:defRPr>
            </a:pPr>
            <a:r>
              <a:rPr sz="1200" b="1">
                <a:solidFill>
                  <a:srgbClr val="A5B0A8"/>
                </a:solidFill>
              </a:rPr>
              <a:t>KeeperHub execution</a:t>
            </a:r>
          </a:p>
        </p:txBody>
      </p:sp>
      <p:sp>
        <p:nvSpPr>
          <p:cNvPr id="5" name="">
            <a:extLst xmlns:a="http://schemas.openxmlformats.org/drawingml/2006/main">
              <a:ext uri="{FF2B5EF4-FFF2-40B4-BE49-F238E27FC236}">
                <a16:creationId xmlns:a16="http://schemas.microsoft.com/office/drawing/2014/main" id="{3525C506-079D-4B4B-AC8F-EB957410A388}"/>
              </a:ext>
            </a:extLst>
          </p:cNvPr>
          <p:cNvSpPr>
            <a:spLocks xmlns:a="http://schemas.openxmlformats.org/drawingml/2006/main" noGrp="1"/>
          </p:cNvSpPr>
          <p:nvPr/>
        </p:nvSpPr>
        <p:spPr>
          <a:xfrm xmlns:a="http://schemas.openxmlformats.org/drawingml/2006/main">
            <a:off x="8572500" y="197167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4F7F4"/>
                </a:solidFill>
              </a:defRPr>
            </a:pPr>
            <a:r>
              <a:rPr sz="1425" b="1">
                <a:solidFill>
                  <a:srgbClr val="F4F7F4"/>
                </a:solidFill>
              </a:rPr>
              <a:t>3hmlqi36zweiwg6fc5o2u</a:t>
            </a:r>
          </a:p>
        </p:txBody>
      </p:sp>
      <p:sp>
        <p:nvSpPr>
          <p:cNvPr id="6" name="">
            <a:extLst xmlns:a="http://schemas.openxmlformats.org/drawingml/2006/main">
              <a:ext uri="{FF2B5EF4-FFF2-40B4-BE49-F238E27FC236}">
                <a16:creationId xmlns:a16="http://schemas.microsoft.com/office/drawing/2014/main" id="{FFE7945F-6764-4D26-B304-045947ABE60B}"/>
              </a:ext>
            </a:extLst>
          </p:cNvPr>
          <p:cNvSpPr>
            <a:spLocks xmlns:a="http://schemas.openxmlformats.org/drawingml/2006/main" noGrp="1"/>
          </p:cNvSpPr>
          <p:nvPr/>
        </p:nvSpPr>
        <p:spPr>
          <a:xfrm xmlns:a="http://schemas.openxmlformats.org/drawingml/2006/main">
            <a:off x="8572500" y="26289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5B0A8"/>
                </a:solidFill>
              </a:defRPr>
            </a:pPr>
            <a:r>
              <a:rPr sz="1200" b="1">
                <a:solidFill>
                  <a:srgbClr val="A5B0A8"/>
                </a:solidFill>
              </a:rPr>
              <a:t>Base Sepolia block</a:t>
            </a:r>
          </a:p>
        </p:txBody>
      </p:sp>
      <p:sp>
        <p:nvSpPr>
          <p:cNvPr id="7" name="">
            <a:extLst xmlns:a="http://schemas.openxmlformats.org/drawingml/2006/main">
              <a:ext uri="{FF2B5EF4-FFF2-40B4-BE49-F238E27FC236}">
                <a16:creationId xmlns:a16="http://schemas.microsoft.com/office/drawing/2014/main" id="{AAB88E7F-98EC-4A4B-B929-16F5762D81FE}"/>
              </a:ext>
            </a:extLst>
          </p:cNvPr>
          <p:cNvSpPr>
            <a:spLocks xmlns:a="http://schemas.openxmlformats.org/drawingml/2006/main" noGrp="1"/>
          </p:cNvSpPr>
          <p:nvPr/>
        </p:nvSpPr>
        <p:spPr>
          <a:xfrm xmlns:a="http://schemas.openxmlformats.org/drawingml/2006/main">
            <a:off x="8572500" y="2981325"/>
            <a:ext cx="247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C8FF3D"/>
                </a:solidFill>
              </a:defRPr>
            </a:pPr>
            <a:r>
              <a:rPr sz="2550" b="1">
                <a:solidFill>
                  <a:srgbClr val="C8FF3D"/>
                </a:solidFill>
              </a:rPr>
              <a:t>45327128</a:t>
            </a:r>
          </a:p>
        </p:txBody>
      </p:sp>
      <p:sp>
        <p:nvSpPr>
          <p:cNvPr id="8" name="">
            <a:extLst xmlns:a="http://schemas.openxmlformats.org/drawingml/2006/main">
              <a:ext uri="{FF2B5EF4-FFF2-40B4-BE49-F238E27FC236}">
                <a16:creationId xmlns:a16="http://schemas.microsoft.com/office/drawing/2014/main" id="{6CA008B2-25C8-483F-B4ED-A73D6055642D}"/>
              </a:ext>
            </a:extLst>
          </p:cNvPr>
          <p:cNvSpPr>
            <a:spLocks xmlns:a="http://schemas.openxmlformats.org/drawingml/2006/main" noGrp="1"/>
          </p:cNvSpPr>
          <p:nvPr/>
        </p:nvSpPr>
        <p:spPr>
          <a:xfrm xmlns:a="http://schemas.openxmlformats.org/drawingml/2006/main">
            <a:off x="8572500" y="36576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F4F7F4"/>
                </a:solidFill>
              </a:defRPr>
            </a:pPr>
            <a:r>
              <a:rPr sz="2100" b="1">
                <a:solidFill>
                  <a:srgbClr val="F4F7F4"/>
                </a:solidFill>
              </a:rPr>
              <a:t>1 atomic USDC</a:t>
            </a:r>
          </a:p>
        </p:txBody>
      </p:sp>
      <p:sp>
        <p:nvSpPr>
          <p:cNvPr id="9" name="">
            <a:extLst xmlns:a="http://schemas.openxmlformats.org/drawingml/2006/main">
              <a:ext uri="{FF2B5EF4-FFF2-40B4-BE49-F238E27FC236}">
                <a16:creationId xmlns:a16="http://schemas.microsoft.com/office/drawing/2014/main" id="{3ED8E6AA-C40A-453F-B888-0EB01F289BE8}"/>
              </a:ext>
            </a:extLst>
          </p:cNvPr>
          <p:cNvSpPr>
            <a:spLocks xmlns:a="http://schemas.openxmlformats.org/drawingml/2006/main" noGrp="1"/>
          </p:cNvSpPr>
          <p:nvPr/>
        </p:nvSpPr>
        <p:spPr>
          <a:xfrm xmlns:a="http://schemas.openxmlformats.org/drawingml/2006/main">
            <a:off x="8572500" y="4171950"/>
            <a:ext cx="266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5B0A8"/>
                </a:solidFill>
              </a:defRPr>
            </a:pPr>
            <a:r>
              <a:rPr sz="1350" b="0">
                <a:solidFill>
                  <a:srgbClr val="A5B0A8"/>
                </a:solidFill>
              </a:rPr>
              <a:t>debtor −1  •  creditor +1</a:t>
            </a:r>
          </a:p>
          <a:p xmlns:a="http://schemas.openxmlformats.org/drawingml/2006/main">
            <a:pPr algn="l">
              <a:defRPr sz="1350" b="0">
                <a:solidFill>
                  <a:srgbClr val="A5B0A8"/>
                </a:solidFill>
              </a:defRPr>
            </a:pPr>
            <a:r>
              <a:rPr sz="1350" b="0">
                <a:solidFill>
                  <a:srgbClr val="A5B0A8"/>
                </a:solidFill>
              </a:rPr>
              <a:t>contract 0  •  delta 0</a:t>
            </a:r>
          </a:p>
        </p:txBody>
      </p:sp>
      <p:sp>
        <p:nvSpPr>
          <p:cNvPr id="10" name="">
            <a:extLst xmlns:a="http://schemas.openxmlformats.org/drawingml/2006/main">
              <a:ext uri="{FF2B5EF4-FFF2-40B4-BE49-F238E27FC236}">
                <a16:creationId xmlns:a16="http://schemas.microsoft.com/office/drawing/2014/main" id="{2A287982-621D-4130-BFEA-9AE8DDE8F75A}"/>
              </a:ext>
            </a:extLst>
          </p:cNvPr>
          <p:cNvSpPr>
            <a:spLocks xmlns:a="http://schemas.openxmlformats.org/drawingml/2006/main" noGrp="1"/>
          </p:cNvSpPr>
          <p:nvPr/>
        </p:nvSpPr>
        <p:spPr>
          <a:xfrm xmlns:a="http://schemas.openxmlformats.org/drawingml/2006/main">
            <a:off x="8572500" y="5219700"/>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64"/>
                </a:solidFill>
              </a:defRPr>
            </a:pPr>
            <a:r>
              <a:rPr sz="1350" b="1">
                <a:solidFill>
                  <a:srgbClr val="FF6B64"/>
                </a:solidFill>
              </a:rPr>
              <a:t>Earlier authorized run.</a:t>
            </a:r>
          </a:p>
          <a:p xmlns:a="http://schemas.openxmlformats.org/drawingml/2006/main">
            <a:pPr algn="l">
              <a:defRPr sz="1350" b="1">
                <a:solidFill>
                  <a:srgbClr val="FF6B64"/>
                </a:solidFill>
              </a:defRPr>
            </a:pPr>
            <a:r>
              <a:rPr sz="1350" b="1">
                <a:solidFill>
                  <a:srgbClr val="FF6B64"/>
                </a:solidFill>
              </a:rPr>
              <a:t>Separate from the filmed MCP test.</a:t>
            </a:r>
          </a:p>
        </p:txBody>
      </p:sp>
      <p:sp>
        <p:nvSpPr>
          <p:cNvPr id="11" name="">
            <a:extLst xmlns:a="http://schemas.openxmlformats.org/drawingml/2006/main">
              <a:ext uri="{FF2B5EF4-FFF2-40B4-BE49-F238E27FC236}">
                <a16:creationId xmlns:a16="http://schemas.microsoft.com/office/drawing/2014/main" id="{7EB1C139-D0D3-4980-8AB3-441D393CA144}"/>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A5B0A8"/>
                </a:solidFill>
              </a:defRPr>
            </a:pPr>
            <a:r>
              <a:rPr sz="825" b="0">
                <a:solidFill>
                  <a:srgbClr val="A5B0A8"/>
                </a:solidFill>
              </a:rPr>
              <a:t>FINALTab  •  KeeperHub Agents Onchain</a:t>
            </a:r>
          </a:p>
        </p:txBody>
      </p:sp>
      <p:sp>
        <p:nvSpPr>
          <p:cNvPr id="12" name="">
            <a:extLst xmlns:a="http://schemas.openxmlformats.org/drawingml/2006/main">
              <a:ext uri="{FF2B5EF4-FFF2-40B4-BE49-F238E27FC236}">
                <a16:creationId xmlns:a16="http://schemas.microsoft.com/office/drawing/2014/main" id="{88DFDDB9-F082-41FF-B874-2172BC320785}"/>
              </a:ext>
            </a:extLst>
          </p:cNvPr>
          <p:cNvSpPr>
            <a:spLocks xmlns:a="http://schemas.openxmlformats.org/drawingml/2006/main" noGrp="1"/>
          </p:cNvSpPr>
          <p:nvPr/>
        </p:nvSpPr>
        <p:spPr>
          <a:xfrm xmlns:a="http://schemas.openxmlformats.org/drawingml/2006/main">
            <a:off x="11144250" y="65151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A5B0A8"/>
                </a:solidFill>
              </a:defRPr>
            </a:pPr>
            <a:r>
              <a:rPr sz="825" b="1">
                <a:solidFill>
                  <a:srgbClr val="A5B0A8"/>
                </a:solidFill>
              </a:rPr>
              <a:t>05</a:t>
            </a:r>
          </a:p>
        </p:txBody>
      </p:sp>
    </p:spTree>
    <p:extLst>
      <p:ext uri="{BB962C8B-B14F-4D97-AF65-F5344CB8AC3E}">
        <p14:creationId xmlns:p14="http://schemas.microsoft.com/office/powerpoint/2010/main" val="1482973415"/>
      </p:ext>
    </p:extLst>
  </p:cSld>
</p:sld>
</file>

<file path=ppt/slides/slide6.xml><?xml version="1.0" encoding="utf-8"?>
<p:sld xmlns:p="http://schemas.openxmlformats.org/presentationml/2006/main">
  <p:cSld>
    <p:bg>
      <p:bgPr>
        <a:solidFill xmlns:a="http://schemas.openxmlformats.org/drawingml/2006/main">
          <a:srgbClr val="05070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6EDE8D2-9C44-4465-8046-90A08F8CAB9A}"/>
              </a:ext>
            </a:extLst>
          </p:cNvPr>
          <p:cNvSpPr>
            <a:spLocks xmlns:a="http://schemas.openxmlformats.org/drawingml/2006/main" noGrp="1"/>
          </p:cNvSpPr>
          <p:nvPr/>
        </p:nvSpPr>
        <p:spPr>
          <a:xfrm xmlns:a="http://schemas.openxmlformats.org/drawingml/2006/main">
            <a:off x="685800" y="45720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8FF3D"/>
                </a:solidFill>
              </a:defRPr>
            </a:pPr>
            <a:r>
              <a:rPr sz="1050" b="1">
                <a:solidFill>
                  <a:srgbClr val="C8FF3D"/>
                </a:solidFill>
              </a:rPr>
              <a:t>AGENT-NATIVE SURFACE</a:t>
            </a:r>
          </a:p>
        </p:txBody>
      </p:sp>
      <p:sp>
        <p:nvSpPr>
          <p:cNvPr id="2" name="">
            <a:extLst xmlns:a="http://schemas.openxmlformats.org/drawingml/2006/main">
              <a:ext uri="{FF2B5EF4-FFF2-40B4-BE49-F238E27FC236}">
                <a16:creationId xmlns:a16="http://schemas.microsoft.com/office/drawing/2014/main" id="{7615BE9F-7A83-4274-8D77-CF4E3277A464}"/>
              </a:ext>
            </a:extLst>
          </p:cNvPr>
          <p:cNvSpPr>
            <a:spLocks xmlns:a="http://schemas.openxmlformats.org/drawingml/2006/main" noGrp="1"/>
          </p:cNvSpPr>
          <p:nvPr/>
        </p:nvSpPr>
        <p:spPr>
          <a:xfrm xmlns:a="http://schemas.openxmlformats.org/drawingml/2006/main">
            <a:off x="685800" y="78105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4F7F4"/>
                </a:solidFill>
              </a:defRPr>
            </a:pPr>
            <a:r>
              <a:rPr sz="3150" b="1">
                <a:solidFill>
                  <a:srgbClr val="F4F7F4"/>
                </a:solidFill>
              </a:rPr>
              <a:t>One product. Nine authenticated tools. One hard stop.</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5707d2358f245fd"/>
          <a:srcRect xmlns:a="http://schemas.openxmlformats.org/drawingml/2006/main" l="4714" t="0" r="4714" b="0"/>
          <a:stretch xmlns:a="http://schemas.openxmlformats.org/drawingml/2006/main">
            <a:fillRect l="0" t="0" r="0" b="0"/>
          </a:stretch>
        </p:blipFill>
        <p:spPr>
          <a:xfrm xmlns:a="http://schemas.openxmlformats.org/drawingml/2006/main">
            <a:off x="590550" y="1581150"/>
            <a:ext cx="7239000" cy="4495800"/>
          </a:xfrm>
          <a:prstGeom xmlns:a="http://schemas.openxmlformats.org/drawingml/2006/main" prst="roundRect">
            <a:avLst>
              <a:gd name="adj" fmla="val 2542"/>
            </a:avLst>
          </a:prstGeom>
        </p:spPr>
      </p:pic>
      <p:sp>
        <p:nvSpPr>
          <p:cNvPr id="4" name="">
            <a:extLst xmlns:a="http://schemas.openxmlformats.org/drawingml/2006/main">
              <a:ext uri="{FF2B5EF4-FFF2-40B4-BE49-F238E27FC236}">
                <a16:creationId xmlns:a16="http://schemas.microsoft.com/office/drawing/2014/main" id="{AE3B0EC0-8299-4F33-83C1-12DB51E3AC1B}"/>
              </a:ext>
            </a:extLst>
          </p:cNvPr>
          <p:cNvSpPr>
            <a:spLocks xmlns:a="http://schemas.openxmlformats.org/drawingml/2006/main" noGrp="1"/>
          </p:cNvSpPr>
          <p:nvPr/>
        </p:nvSpPr>
        <p:spPr>
          <a:xfrm xmlns:a="http://schemas.openxmlformats.org/drawingml/2006/main">
            <a:off x="8334375" y="17145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45AFFF"/>
                </a:solidFill>
              </a:defRPr>
            </a:pPr>
            <a:r>
              <a:rPr sz="1050" b="1">
                <a:solidFill>
                  <a:srgbClr val="45AFFF"/>
                </a:solidFill>
              </a:rPr>
              <a:t>CALCULATE</a:t>
            </a:r>
          </a:p>
        </p:txBody>
      </p:sp>
      <p:sp>
        <p:nvSpPr>
          <p:cNvPr id="5" name="">
            <a:extLst xmlns:a="http://schemas.openxmlformats.org/drawingml/2006/main">
              <a:ext uri="{FF2B5EF4-FFF2-40B4-BE49-F238E27FC236}">
                <a16:creationId xmlns:a16="http://schemas.microsoft.com/office/drawing/2014/main" id="{9DC6750C-FCF5-405B-8AB3-2386639C5CB4}"/>
              </a:ext>
            </a:extLst>
          </p:cNvPr>
          <p:cNvSpPr>
            <a:spLocks xmlns:a="http://schemas.openxmlformats.org/drawingml/2006/main" noGrp="1"/>
          </p:cNvSpPr>
          <p:nvPr/>
        </p:nvSpPr>
        <p:spPr>
          <a:xfrm xmlns:a="http://schemas.openxmlformats.org/drawingml/2006/main">
            <a:off x="8334375" y="205740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4F7F4"/>
                </a:solidFill>
              </a:defRPr>
            </a:pPr>
            <a:r>
              <a:rPr sz="1350" b="1">
                <a:solidFill>
                  <a:srgbClr val="F4F7F4"/>
                </a:solidFill>
              </a:rPr>
              <a:t>split_equal  •  split_weighted</a:t>
            </a:r>
          </a:p>
          <a:p xmlns:a="http://schemas.openxmlformats.org/drawingml/2006/main">
            <a:pPr algn="l">
              <a:defRPr sz="1350" b="1">
                <a:solidFill>
                  <a:srgbClr val="F4F7F4"/>
                </a:solidFill>
              </a:defRPr>
            </a:pPr>
            <a:r>
              <a:rPr sz="1350" b="1">
                <a:solidFill>
                  <a:srgbClr val="F4F7F4"/>
                </a:solidFill>
              </a:rPr>
              <a:t>net_debts</a:t>
            </a:r>
          </a:p>
        </p:txBody>
      </p:sp>
      <p:sp>
        <p:nvSpPr>
          <p:cNvPr id="6" name="">
            <a:extLst xmlns:a="http://schemas.openxmlformats.org/drawingml/2006/main">
              <a:ext uri="{FF2B5EF4-FFF2-40B4-BE49-F238E27FC236}">
                <a16:creationId xmlns:a16="http://schemas.microsoft.com/office/drawing/2014/main" id="{02BCD658-D153-4C3A-AAA7-A6025F340401}"/>
              </a:ext>
            </a:extLst>
          </p:cNvPr>
          <p:cNvSpPr>
            <a:spLocks xmlns:a="http://schemas.openxmlformats.org/drawingml/2006/main" noGrp="1"/>
          </p:cNvSpPr>
          <p:nvPr/>
        </p:nvSpPr>
        <p:spPr>
          <a:xfrm xmlns:a="http://schemas.openxmlformats.org/drawingml/2006/main">
            <a:off x="8334375" y="29527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45AFFF"/>
                </a:solidFill>
              </a:defRPr>
            </a:pPr>
            <a:r>
              <a:rPr sz="1050" b="1">
                <a:solidFill>
                  <a:srgbClr val="45AFFF"/>
                </a:solidFill>
              </a:rPr>
              <a:t>PREPARE</a:t>
            </a:r>
          </a:p>
        </p:txBody>
      </p:sp>
      <p:sp>
        <p:nvSpPr>
          <p:cNvPr id="7" name="">
            <a:extLst xmlns:a="http://schemas.openxmlformats.org/drawingml/2006/main">
              <a:ext uri="{FF2B5EF4-FFF2-40B4-BE49-F238E27FC236}">
                <a16:creationId xmlns:a16="http://schemas.microsoft.com/office/drawing/2014/main" id="{6723F921-DD7A-4D4C-B507-34635427344C}"/>
              </a:ext>
            </a:extLst>
          </p:cNvPr>
          <p:cNvSpPr>
            <a:spLocks xmlns:a="http://schemas.openxmlformats.org/drawingml/2006/main" noGrp="1"/>
          </p:cNvSpPr>
          <p:nvPr/>
        </p:nvSpPr>
        <p:spPr>
          <a:xfrm xmlns:a="http://schemas.openxmlformats.org/drawingml/2006/main">
            <a:off x="8334375" y="329565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4F7F4"/>
                </a:solidFill>
              </a:defRPr>
            </a:pPr>
            <a:r>
              <a:rPr sz="1350" b="1">
                <a:solidFill>
                  <a:srgbClr val="F4F7F4"/>
                </a:solidFill>
              </a:rPr>
              <a:t>allocate_receipt</a:t>
            </a:r>
          </a:p>
          <a:p xmlns:a="http://schemas.openxmlformats.org/drawingml/2006/main">
            <a:pPr algn="l">
              <a:defRPr sz="1350" b="1">
                <a:solidFill>
                  <a:srgbClr val="F4F7F4"/>
                </a:solidFill>
              </a:defRPr>
            </a:pPr>
            <a:r>
              <a:rPr sz="1350" b="1">
                <a:solidFill>
                  <a:srgbClr val="F4F7F4"/>
                </a:solidFill>
              </a:rPr>
              <a:t>prepare_receipt_settlement</a:t>
            </a:r>
          </a:p>
        </p:txBody>
      </p:sp>
      <p:sp>
        <p:nvSpPr>
          <p:cNvPr id="8" name="">
            <a:extLst xmlns:a="http://schemas.openxmlformats.org/drawingml/2006/main">
              <a:ext uri="{FF2B5EF4-FFF2-40B4-BE49-F238E27FC236}">
                <a16:creationId xmlns:a16="http://schemas.microsoft.com/office/drawing/2014/main" id="{20C725A1-CBE3-41F5-9B2C-5772F9DF2BB1}"/>
              </a:ext>
            </a:extLst>
          </p:cNvPr>
          <p:cNvSpPr>
            <a:spLocks xmlns:a="http://schemas.openxmlformats.org/drawingml/2006/main" noGrp="1"/>
          </p:cNvSpPr>
          <p:nvPr/>
        </p:nvSpPr>
        <p:spPr>
          <a:xfrm xmlns:a="http://schemas.openxmlformats.org/drawingml/2006/main">
            <a:off x="8334375" y="4191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45AFFF"/>
                </a:solidFill>
              </a:defRPr>
            </a:pPr>
            <a:r>
              <a:rPr sz="1050" b="1">
                <a:solidFill>
                  <a:srgbClr val="45AFFF"/>
                </a:solidFill>
              </a:rPr>
              <a:t>EXECUTION SAFETY + PROOF</a:t>
            </a:r>
          </a:p>
        </p:txBody>
      </p:sp>
      <p:sp>
        <p:nvSpPr>
          <p:cNvPr id="9" name="">
            <a:extLst xmlns:a="http://schemas.openxmlformats.org/drawingml/2006/main">
              <a:ext uri="{FF2B5EF4-FFF2-40B4-BE49-F238E27FC236}">
                <a16:creationId xmlns:a16="http://schemas.microsoft.com/office/drawing/2014/main" id="{0E515657-28F0-4ED7-BD4C-B93857F2656C}"/>
              </a:ext>
            </a:extLst>
          </p:cNvPr>
          <p:cNvSpPr>
            <a:spLocks xmlns:a="http://schemas.openxmlformats.org/drawingml/2006/main" noGrp="1"/>
          </p:cNvSpPr>
          <p:nvPr/>
        </p:nvSpPr>
        <p:spPr>
          <a:xfrm xmlns:a="http://schemas.openxmlformats.org/drawingml/2006/main">
            <a:off x="8334375" y="453390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4F7F4"/>
                </a:solidFill>
              </a:defRPr>
            </a:pPr>
            <a:r>
              <a:rPr sz="1350" b="1">
                <a:solidFill>
                  <a:srgbClr val="F4F7F4"/>
                </a:solidFill>
              </a:rPr>
              <a:t>simulate  •  challenge  •  submit</a:t>
            </a:r>
          </a:p>
          <a:p xmlns:a="http://schemas.openxmlformats.org/drawingml/2006/main">
            <a:pPr algn="l">
              <a:defRPr sz="1350" b="1">
                <a:solidFill>
                  <a:srgbClr val="F4F7F4"/>
                </a:solidFill>
              </a:defRPr>
            </a:pPr>
            <a:r>
              <a:rPr sz="1350" b="1">
                <a:solidFill>
                  <a:srgbClr val="F4F7F4"/>
                </a:solidFill>
              </a:rPr>
              <a:t>settlement_status</a:t>
            </a:r>
          </a:p>
        </p:txBody>
      </p:sp>
      <p:sp>
        <p:nvSpPr>
          <p:cNvPr id="10" name="">
            <a:extLst xmlns:a="http://schemas.openxmlformats.org/drawingml/2006/main">
              <a:ext uri="{FF2B5EF4-FFF2-40B4-BE49-F238E27FC236}">
                <a16:creationId xmlns:a16="http://schemas.microsoft.com/office/drawing/2014/main" id="{A499355F-3B5D-42E1-A27D-458FC8E52756}"/>
              </a:ext>
            </a:extLst>
          </p:cNvPr>
          <p:cNvSpPr>
            <a:spLocks xmlns:a="http://schemas.openxmlformats.org/drawingml/2006/main" noGrp="1"/>
          </p:cNvSpPr>
          <p:nvPr/>
        </p:nvSpPr>
        <p:spPr>
          <a:xfrm xmlns:a="http://schemas.openxmlformats.org/drawingml/2006/main">
            <a:off x="8334375" y="541020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6B64"/>
                </a:solidFill>
              </a:defRPr>
            </a:pPr>
            <a:r>
              <a:rPr sz="1200" b="1">
                <a:solidFill>
                  <a:srgbClr val="FF6B64"/>
                </a:solidFill>
              </a:rPr>
              <a:t>FILMED TEST: challenge created → HARD STOP</a:t>
            </a:r>
          </a:p>
          <a:p xmlns:a="http://schemas.openxmlformats.org/drawingml/2006/main">
            <a:pPr algn="l">
              <a:defRPr sz="1200" b="1">
                <a:solidFill>
                  <a:srgbClr val="FF6B64"/>
                </a:solidFill>
              </a:defRPr>
            </a:pPr>
            <a:r>
              <a:rPr sz="1200" b="1">
                <a:solidFill>
                  <a:srgbClr val="FF6B64"/>
                </a:solidFill>
              </a:rPr>
              <a:t>No signature. No submit. No broadcast. No value.</a:t>
            </a:r>
          </a:p>
        </p:txBody>
      </p:sp>
      <p:sp>
        <p:nvSpPr>
          <p:cNvPr id="11" name="">
            <a:extLst xmlns:a="http://schemas.openxmlformats.org/drawingml/2006/main">
              <a:ext uri="{FF2B5EF4-FFF2-40B4-BE49-F238E27FC236}">
                <a16:creationId xmlns:a16="http://schemas.microsoft.com/office/drawing/2014/main" id="{00F32077-C917-4485-9108-159AFF9163E8}"/>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A5B0A8"/>
                </a:solidFill>
              </a:defRPr>
            </a:pPr>
            <a:r>
              <a:rPr sz="825" b="0">
                <a:solidFill>
                  <a:srgbClr val="A5B0A8"/>
                </a:solidFill>
              </a:rPr>
              <a:t>FINALTab  •  KeeperHub Agents Onchain</a:t>
            </a:r>
          </a:p>
        </p:txBody>
      </p:sp>
      <p:sp>
        <p:nvSpPr>
          <p:cNvPr id="12" name="">
            <a:extLst xmlns:a="http://schemas.openxmlformats.org/drawingml/2006/main">
              <a:ext uri="{FF2B5EF4-FFF2-40B4-BE49-F238E27FC236}">
                <a16:creationId xmlns:a16="http://schemas.microsoft.com/office/drawing/2014/main" id="{75454FED-2092-4D5F-99E1-4FAA2DE50B28}"/>
              </a:ext>
            </a:extLst>
          </p:cNvPr>
          <p:cNvSpPr>
            <a:spLocks xmlns:a="http://schemas.openxmlformats.org/drawingml/2006/main" noGrp="1"/>
          </p:cNvSpPr>
          <p:nvPr/>
        </p:nvSpPr>
        <p:spPr>
          <a:xfrm xmlns:a="http://schemas.openxmlformats.org/drawingml/2006/main">
            <a:off x="11144250" y="65151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A5B0A8"/>
                </a:solidFill>
              </a:defRPr>
            </a:pPr>
            <a:r>
              <a:rPr sz="825" b="1">
                <a:solidFill>
                  <a:srgbClr val="A5B0A8"/>
                </a:solidFill>
              </a:rPr>
              <a:t>06</a:t>
            </a:r>
          </a:p>
        </p:txBody>
      </p:sp>
    </p:spTree>
    <p:extLst>
      <p:ext uri="{BB962C8B-B14F-4D97-AF65-F5344CB8AC3E}">
        <p14:creationId xmlns:p14="http://schemas.microsoft.com/office/powerpoint/2010/main" val="1623685261"/>
      </p:ext>
    </p:extLst>
  </p:cSld>
</p:sld>
</file>

<file path=ppt/slides/slide7.xml><?xml version="1.0" encoding="utf-8"?>
<p:sld xmlns:p="http://schemas.openxmlformats.org/presentationml/2006/main">
  <p:cSld>
    <p:bg>
      <p:bgPr>
        <a:solidFill xmlns:a="http://schemas.openxmlformats.org/drawingml/2006/main">
          <a:srgbClr val="050706"/>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4045FB8-58F8-4D69-827E-E559E5EC80A0}"/>
              </a:ext>
            </a:extLst>
          </p:cNvPr>
          <p:cNvSpPr>
            <a:spLocks xmlns:a="http://schemas.openxmlformats.org/drawingml/2006/main" noGrp="1"/>
          </p:cNvSpPr>
          <p:nvPr/>
        </p:nvSpPr>
        <p:spPr>
          <a:xfrm xmlns:a="http://schemas.openxmlformats.org/drawingml/2006/main">
            <a:off x="685800" y="45720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8FF3D"/>
                </a:solidFill>
              </a:defRPr>
            </a:pPr>
            <a:r>
              <a:rPr sz="1050" b="1">
                <a:solidFill>
                  <a:srgbClr val="C8FF3D"/>
                </a:solidFill>
              </a:rPr>
              <a:t>WHY THIS CAN WIN</a:t>
            </a:r>
          </a:p>
        </p:txBody>
      </p:sp>
      <p:sp>
        <p:nvSpPr>
          <p:cNvPr id="2" name="">
            <a:extLst xmlns:a="http://schemas.openxmlformats.org/drawingml/2006/main">
              <a:ext uri="{FF2B5EF4-FFF2-40B4-BE49-F238E27FC236}">
                <a16:creationId xmlns:a16="http://schemas.microsoft.com/office/drawing/2014/main" id="{CC45BE04-587B-46A5-8B70-26013A3C7ACB}"/>
              </a:ext>
            </a:extLst>
          </p:cNvPr>
          <p:cNvSpPr>
            <a:spLocks xmlns:a="http://schemas.openxmlformats.org/drawingml/2006/main" noGrp="1"/>
          </p:cNvSpPr>
          <p:nvPr/>
        </p:nvSpPr>
        <p:spPr>
          <a:xfrm xmlns:a="http://schemas.openxmlformats.org/drawingml/2006/main">
            <a:off x="685800" y="78105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4F7F4"/>
                </a:solidFill>
              </a:defRPr>
            </a:pPr>
            <a:r>
              <a:rPr sz="3150" b="1">
                <a:solidFill>
                  <a:srgbClr val="F4F7F4"/>
                </a:solidFill>
              </a:rPr>
              <a:t>Execution depth meets onboarding clarity</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824e774195c4e16"/>
          <a:stretch xmlns:a="http://schemas.openxmlformats.org/drawingml/2006/main"/>
        </p:blipFill>
        <p:spPr>
          <a:xfrm xmlns:a="http://schemas.openxmlformats.org/drawingml/2006/main">
            <a:off x="6286500" y="2632928"/>
            <a:ext cx="5238750" cy="2354144"/>
          </a:xfrm>
          <a:prstGeom xmlns:a="http://schemas.openxmlformats.org/drawingml/2006/main" prst="roundRect">
            <a:avLst>
              <a:gd name="adj" fmla="val 2500"/>
            </a:avLst>
          </a:prstGeom>
        </p:spPr>
      </p:pic>
      <p:sp>
        <p:nvSpPr>
          <p:cNvPr id="4" name="">
            <a:extLst xmlns:a="http://schemas.openxmlformats.org/drawingml/2006/main">
              <a:ext uri="{FF2B5EF4-FFF2-40B4-BE49-F238E27FC236}">
                <a16:creationId xmlns:a16="http://schemas.microsoft.com/office/drawing/2014/main" id="{1832F09B-7278-434D-826A-74282D2027C8}"/>
              </a:ext>
            </a:extLst>
          </p:cNvPr>
          <p:cNvSpPr>
            <a:spLocks xmlns:a="http://schemas.openxmlformats.org/drawingml/2006/main" noGrp="1"/>
          </p:cNvSpPr>
          <p:nvPr/>
        </p:nvSpPr>
        <p:spPr>
          <a:xfrm xmlns:a="http://schemas.openxmlformats.org/drawingml/2006/main">
            <a:off x="685800" y="16764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4F7F4"/>
                </a:solidFill>
              </a:defRPr>
            </a:pPr>
            <a:r>
              <a:rPr sz="1725" b="1">
                <a:solidFill>
                  <a:srgbClr val="F4F7F4"/>
                </a:solidFill>
              </a:rPr>
              <a:t>Real onchain execution</a:t>
            </a:r>
          </a:p>
        </p:txBody>
      </p:sp>
      <p:sp>
        <p:nvSpPr>
          <p:cNvPr id="5" name="">
            <a:extLst xmlns:a="http://schemas.openxmlformats.org/drawingml/2006/main">
              <a:ext uri="{FF2B5EF4-FFF2-40B4-BE49-F238E27FC236}">
                <a16:creationId xmlns:a16="http://schemas.microsoft.com/office/drawing/2014/main" id="{CFC13C6D-12C0-4426-A596-DCA68CA28DC1}"/>
              </a:ext>
            </a:extLst>
          </p:cNvPr>
          <p:cNvSpPr>
            <a:spLocks xmlns:a="http://schemas.openxmlformats.org/drawingml/2006/main" noGrp="1"/>
          </p:cNvSpPr>
          <p:nvPr/>
        </p:nvSpPr>
        <p:spPr>
          <a:xfrm xmlns:a="http://schemas.openxmlformats.org/drawingml/2006/main">
            <a:off x="685800" y="2038350"/>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A5B0A8"/>
                </a:solidFill>
              </a:defRPr>
            </a:pPr>
            <a:r>
              <a:rPr sz="1200" b="0">
                <a:solidFill>
                  <a:srgbClr val="A5B0A8"/>
                </a:solidFill>
              </a:rPr>
              <a:t>KeeperHub V2 settlement + independently matched Base Sepolia event</a:t>
            </a:r>
          </a:p>
        </p:txBody>
      </p:sp>
      <p:sp>
        <p:nvSpPr>
          <p:cNvPr id="6" name="">
            <a:extLst xmlns:a="http://schemas.openxmlformats.org/drawingml/2006/main">
              <a:ext uri="{FF2B5EF4-FFF2-40B4-BE49-F238E27FC236}">
                <a16:creationId xmlns:a16="http://schemas.microsoft.com/office/drawing/2014/main" id="{C15CEBD3-D468-43DC-BBF3-32748C7EACA2}"/>
              </a:ext>
            </a:extLst>
          </p:cNvPr>
          <p:cNvSpPr>
            <a:spLocks xmlns:a="http://schemas.openxmlformats.org/drawingml/2006/main" noGrp="1"/>
          </p:cNvSpPr>
          <p:nvPr/>
        </p:nvSpPr>
        <p:spPr>
          <a:xfrm xmlns:a="http://schemas.openxmlformats.org/drawingml/2006/main">
            <a:off x="685800" y="27432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4F7F4"/>
                </a:solidFill>
              </a:defRPr>
            </a:pPr>
            <a:r>
              <a:rPr sz="1725" b="1">
                <a:solidFill>
                  <a:srgbClr val="F4F7F4"/>
                </a:solidFill>
              </a:rPr>
              <a:t>Failure-mode thinking</a:t>
            </a:r>
          </a:p>
        </p:txBody>
      </p:sp>
      <p:sp>
        <p:nvSpPr>
          <p:cNvPr id="7" name="">
            <a:extLst xmlns:a="http://schemas.openxmlformats.org/drawingml/2006/main">
              <a:ext uri="{FF2B5EF4-FFF2-40B4-BE49-F238E27FC236}">
                <a16:creationId xmlns:a16="http://schemas.microsoft.com/office/drawing/2014/main" id="{079A9B0E-9A85-4D1E-8B5B-47123F271984}"/>
              </a:ext>
            </a:extLst>
          </p:cNvPr>
          <p:cNvSpPr>
            <a:spLocks xmlns:a="http://schemas.openxmlformats.org/drawingml/2006/main" noGrp="1"/>
          </p:cNvSpPr>
          <p:nvPr/>
        </p:nvSpPr>
        <p:spPr>
          <a:xfrm xmlns:a="http://schemas.openxmlformats.org/drawingml/2006/main">
            <a:off x="685800" y="3105150"/>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A5B0A8"/>
                </a:solidFill>
              </a:defRPr>
            </a:pPr>
            <a:r>
              <a:rPr sz="1200" b="0">
                <a:solidFill>
                  <a:srgbClr val="A5B0A8"/>
                </a:solidFill>
              </a:rPr>
              <a:t>Dual consent, stale-review invalidation, atomic revert, fail-closed proof</a:t>
            </a:r>
          </a:p>
        </p:txBody>
      </p:sp>
      <p:sp>
        <p:nvSpPr>
          <p:cNvPr id="8" name="">
            <a:extLst xmlns:a="http://schemas.openxmlformats.org/drawingml/2006/main">
              <a:ext uri="{FF2B5EF4-FFF2-40B4-BE49-F238E27FC236}">
                <a16:creationId xmlns:a16="http://schemas.microsoft.com/office/drawing/2014/main" id="{6649767F-6B70-4901-BAF7-8AE253D34719}"/>
              </a:ext>
            </a:extLst>
          </p:cNvPr>
          <p:cNvSpPr>
            <a:spLocks xmlns:a="http://schemas.openxmlformats.org/drawingml/2006/main" noGrp="1"/>
          </p:cNvSpPr>
          <p:nvPr/>
        </p:nvSpPr>
        <p:spPr>
          <a:xfrm xmlns:a="http://schemas.openxmlformats.org/drawingml/2006/main">
            <a:off x="685800" y="38100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4F7F4"/>
                </a:solidFill>
              </a:defRPr>
            </a:pPr>
            <a:r>
              <a:rPr sz="1725" b="1">
                <a:solidFill>
                  <a:srgbClr val="F4F7F4"/>
                </a:solidFill>
              </a:rPr>
              <a:t>Developer experience</a:t>
            </a:r>
          </a:p>
        </p:txBody>
      </p:sp>
      <p:sp>
        <p:nvSpPr>
          <p:cNvPr id="9" name="">
            <a:extLst xmlns:a="http://schemas.openxmlformats.org/drawingml/2006/main">
              <a:ext uri="{FF2B5EF4-FFF2-40B4-BE49-F238E27FC236}">
                <a16:creationId xmlns:a16="http://schemas.microsoft.com/office/drawing/2014/main" id="{35B63CBE-9053-48DA-A5A7-440B1D4EE0C9}"/>
              </a:ext>
            </a:extLst>
          </p:cNvPr>
          <p:cNvSpPr>
            <a:spLocks xmlns:a="http://schemas.openxmlformats.org/drawingml/2006/main" noGrp="1"/>
          </p:cNvSpPr>
          <p:nvPr/>
        </p:nvSpPr>
        <p:spPr>
          <a:xfrm xmlns:a="http://schemas.openxmlformats.org/drawingml/2006/main">
            <a:off x="685800" y="4171950"/>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A5B0A8"/>
                </a:solidFill>
              </a:defRPr>
            </a:pPr>
            <a:r>
              <a:rPr sz="1200" b="0">
                <a:solidFill>
                  <a:srgbClr val="A5B0A8"/>
                </a:solidFill>
              </a:rPr>
              <a:t>Nine scoped MCP tools, workflow export, reusable MIT monorepo</a:t>
            </a:r>
          </a:p>
        </p:txBody>
      </p:sp>
      <p:sp>
        <p:nvSpPr>
          <p:cNvPr id="10" name="">
            <a:extLst xmlns:a="http://schemas.openxmlformats.org/drawingml/2006/main">
              <a:ext uri="{FF2B5EF4-FFF2-40B4-BE49-F238E27FC236}">
                <a16:creationId xmlns:a16="http://schemas.microsoft.com/office/drawing/2014/main" id="{962F717D-5219-4A55-8870-CE64309AE84E}"/>
              </a:ext>
            </a:extLst>
          </p:cNvPr>
          <p:cNvSpPr>
            <a:spLocks xmlns:a="http://schemas.openxmlformats.org/drawingml/2006/main" noGrp="1"/>
          </p:cNvSpPr>
          <p:nvPr/>
        </p:nvSpPr>
        <p:spPr>
          <a:xfrm xmlns:a="http://schemas.openxmlformats.org/drawingml/2006/main">
            <a:off x="685800" y="48768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C8FF3D"/>
                </a:solidFill>
              </a:defRPr>
            </a:pPr>
            <a:r>
              <a:rPr sz="1725" b="1">
                <a:solidFill>
                  <a:srgbClr val="C8FF3D"/>
                </a:solidFill>
              </a:rPr>
              <a:t>Onboarding contribution</a:t>
            </a:r>
          </a:p>
        </p:txBody>
      </p:sp>
      <p:sp>
        <p:nvSpPr>
          <p:cNvPr id="11" name="">
            <a:extLst xmlns:a="http://schemas.openxmlformats.org/drawingml/2006/main">
              <a:ext uri="{FF2B5EF4-FFF2-40B4-BE49-F238E27FC236}">
                <a16:creationId xmlns:a16="http://schemas.microsoft.com/office/drawing/2014/main" id="{BEFD0579-54FF-4A6F-B470-E530DB84E85E}"/>
              </a:ext>
            </a:extLst>
          </p:cNvPr>
          <p:cNvSpPr>
            <a:spLocks xmlns:a="http://schemas.openxmlformats.org/drawingml/2006/main" noGrp="1"/>
          </p:cNvSpPr>
          <p:nvPr/>
        </p:nvSpPr>
        <p:spPr>
          <a:xfrm xmlns:a="http://schemas.openxmlformats.org/drawingml/2006/main">
            <a:off x="685800" y="5238750"/>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A5B0A8"/>
                </a:solidFill>
              </a:defRPr>
            </a:pPr>
            <a:r>
              <a:rPr sz="1200" b="0">
                <a:solidFill>
                  <a:srgbClr val="A5B0A8"/>
                </a:solidFill>
              </a:rPr>
              <a:t>Open KeeperHub CLI PR #95 adds --require-verified</a:t>
            </a:r>
          </a:p>
        </p:txBody>
      </p:sp>
      <p:sp>
        <p:nvSpPr>
          <p:cNvPr id="12" name="">
            <a:extLst xmlns:a="http://schemas.openxmlformats.org/drawingml/2006/main">
              <a:ext uri="{FF2B5EF4-FFF2-40B4-BE49-F238E27FC236}">
                <a16:creationId xmlns:a16="http://schemas.microsoft.com/office/drawing/2014/main" id="{5913709D-8B04-4EDB-B460-1022EA503B12}"/>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A5B0A8"/>
                </a:solidFill>
              </a:defRPr>
            </a:pPr>
            <a:r>
              <a:rPr sz="825" b="0">
                <a:solidFill>
                  <a:srgbClr val="A5B0A8"/>
                </a:solidFill>
              </a:rPr>
              <a:t>FINALTab  •  KeeperHub Agents Onchain</a:t>
            </a:r>
          </a:p>
        </p:txBody>
      </p:sp>
      <p:sp>
        <p:nvSpPr>
          <p:cNvPr id="13" name="">
            <a:extLst xmlns:a="http://schemas.openxmlformats.org/drawingml/2006/main">
              <a:ext uri="{FF2B5EF4-FFF2-40B4-BE49-F238E27FC236}">
                <a16:creationId xmlns:a16="http://schemas.microsoft.com/office/drawing/2014/main" id="{25F52601-0EA0-4BFC-8BFC-815010DC0F0B}"/>
              </a:ext>
            </a:extLst>
          </p:cNvPr>
          <p:cNvSpPr>
            <a:spLocks xmlns:a="http://schemas.openxmlformats.org/drawingml/2006/main" noGrp="1"/>
          </p:cNvSpPr>
          <p:nvPr/>
        </p:nvSpPr>
        <p:spPr>
          <a:xfrm xmlns:a="http://schemas.openxmlformats.org/drawingml/2006/main">
            <a:off x="11144250" y="65151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A5B0A8"/>
                </a:solidFill>
              </a:defRPr>
            </a:pPr>
            <a:r>
              <a:rPr sz="825" b="1">
                <a:solidFill>
                  <a:srgbClr val="A5B0A8"/>
                </a:solidFill>
              </a:rPr>
              <a:t>07</a:t>
            </a:r>
          </a:p>
        </p:txBody>
      </p:sp>
    </p:spTree>
    <p:extLst>
      <p:ext uri="{BB962C8B-B14F-4D97-AF65-F5344CB8AC3E}">
        <p14:creationId xmlns:p14="http://schemas.microsoft.com/office/powerpoint/2010/main" val="790760238"/>
      </p:ext>
    </p:extLst>
  </p:cSld>
</p:sld>
</file>

<file path=ppt/slides/slide8.xml><?xml version="1.0" encoding="utf-8"?>
<p:sld xmlns:p="http://schemas.openxmlformats.org/presentationml/2006/main">
  <p:cSld>
    <p:bg>
      <p:bgPr>
        <a:solidFill xmlns:a="http://schemas.openxmlformats.org/drawingml/2006/main">
          <a:srgbClr val="05070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F00B71B-F74F-469F-9A65-E06251B5E0C8}"/>
              </a:ext>
            </a:extLst>
          </p:cNvPr>
          <p:cNvSpPr>
            <a:spLocks xmlns:a="http://schemas.openxmlformats.org/drawingml/2006/main" noGrp="1"/>
          </p:cNvSpPr>
          <p:nvPr/>
        </p:nvSpPr>
        <p:spPr>
          <a:xfrm xmlns:a="http://schemas.openxmlformats.org/drawingml/2006/main">
            <a:off x="685800" y="45720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C8FF3D"/>
                </a:solidFill>
              </a:defRPr>
            </a:pPr>
            <a:r>
              <a:rPr sz="1050" b="1">
                <a:solidFill>
                  <a:srgbClr val="C8FF3D"/>
                </a:solidFill>
              </a:rPr>
              <a:t>CLOSE THE TAB</a:t>
            </a:r>
          </a:p>
        </p:txBody>
      </p:sp>
      <p:sp>
        <p:nvSpPr>
          <p:cNvPr id="2" name="">
            <a:extLst xmlns:a="http://schemas.openxmlformats.org/drawingml/2006/main">
              <a:ext uri="{FF2B5EF4-FFF2-40B4-BE49-F238E27FC236}">
                <a16:creationId xmlns:a16="http://schemas.microsoft.com/office/drawing/2014/main" id="{19B90AE2-9A7D-4314-9267-3BB56220622B}"/>
              </a:ext>
            </a:extLst>
          </p:cNvPr>
          <p:cNvSpPr>
            <a:spLocks xmlns:a="http://schemas.openxmlformats.org/drawingml/2006/main" noGrp="1"/>
          </p:cNvSpPr>
          <p:nvPr/>
        </p:nvSpPr>
        <p:spPr>
          <a:xfrm xmlns:a="http://schemas.openxmlformats.org/drawingml/2006/main">
            <a:off x="685800" y="78105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4F7F4"/>
                </a:solidFill>
              </a:defRPr>
            </a:pPr>
            <a:r>
              <a:rPr sz="3150" b="1">
                <a:solidFill>
                  <a:srgbClr val="F4F7F4"/>
                </a:solidFill>
              </a:rPr>
              <a:t>The safe path should be the easy path</a:t>
            </a:r>
          </a:p>
        </p:txBody>
      </p:sp>
      <p:sp>
        <p:nvSpPr>
          <p:cNvPr id="3" name="">
            <a:extLst xmlns:a="http://schemas.openxmlformats.org/drawingml/2006/main">
              <a:ext uri="{FF2B5EF4-FFF2-40B4-BE49-F238E27FC236}">
                <a16:creationId xmlns:a16="http://schemas.microsoft.com/office/drawing/2014/main" id="{4423BBE9-5C7D-422F-B8D1-725854939B40}"/>
              </a:ext>
            </a:extLst>
          </p:cNvPr>
          <p:cNvSpPr>
            <a:spLocks xmlns:a="http://schemas.openxmlformats.org/drawingml/2006/main" noGrp="1"/>
          </p:cNvSpPr>
          <p:nvPr/>
        </p:nvSpPr>
        <p:spPr>
          <a:xfrm xmlns:a="http://schemas.openxmlformats.org/drawingml/2006/main">
            <a:off x="742950" y="19240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F4F7F4"/>
                </a:solidFill>
              </a:defRPr>
            </a:pPr>
            <a:r>
              <a:rPr sz="2400" b="1">
                <a:solidFill>
                  <a:srgbClr val="F4F7F4"/>
                </a:solidFill>
              </a:rPr>
              <a:t>AI interprets</a:t>
            </a:r>
          </a:p>
        </p:txBody>
      </p:sp>
      <p:sp>
        <p:nvSpPr>
          <p:cNvPr id="4" name="">
            <a:extLst xmlns:a="http://schemas.openxmlformats.org/drawingml/2006/main">
              <a:ext uri="{FF2B5EF4-FFF2-40B4-BE49-F238E27FC236}">
                <a16:creationId xmlns:a16="http://schemas.microsoft.com/office/drawing/2014/main" id="{8DD8C85A-B526-4BA4-8006-D574878F7024}"/>
              </a:ext>
            </a:extLst>
          </p:cNvPr>
          <p:cNvSpPr>
            <a:spLocks xmlns:a="http://schemas.openxmlformats.org/drawingml/2006/main" noGrp="1"/>
          </p:cNvSpPr>
          <p:nvPr/>
        </p:nvSpPr>
        <p:spPr>
          <a:xfrm xmlns:a="http://schemas.openxmlformats.org/drawingml/2006/main">
            <a:off x="3333750" y="25717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F4F7F4"/>
                </a:solidFill>
              </a:defRPr>
            </a:pPr>
            <a:r>
              <a:rPr sz="2400" b="1">
                <a:solidFill>
                  <a:srgbClr val="F4F7F4"/>
                </a:solidFill>
              </a:rPr>
              <a:t>Code reconciles</a:t>
            </a:r>
          </a:p>
        </p:txBody>
      </p:sp>
      <p:sp>
        <p:nvSpPr>
          <p:cNvPr id="5" name="">
            <a:extLst xmlns:a="http://schemas.openxmlformats.org/drawingml/2006/main">
              <a:ext uri="{FF2B5EF4-FFF2-40B4-BE49-F238E27FC236}">
                <a16:creationId xmlns:a16="http://schemas.microsoft.com/office/drawing/2014/main" id="{68C5646D-10D6-469A-811E-B80753E5E842}"/>
              </a:ext>
            </a:extLst>
          </p:cNvPr>
          <p:cNvSpPr>
            <a:spLocks xmlns:a="http://schemas.openxmlformats.org/drawingml/2006/main" noGrp="1"/>
          </p:cNvSpPr>
          <p:nvPr/>
        </p:nvSpPr>
        <p:spPr>
          <a:xfrm xmlns:a="http://schemas.openxmlformats.org/drawingml/2006/main">
            <a:off x="6057900" y="32194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F4F7F4"/>
                </a:solidFill>
              </a:defRPr>
            </a:pPr>
            <a:r>
              <a:rPr sz="2400" b="1">
                <a:solidFill>
                  <a:srgbClr val="F4F7F4"/>
                </a:solidFill>
              </a:rPr>
              <a:t>Wallets consent</a:t>
            </a:r>
          </a:p>
        </p:txBody>
      </p:sp>
      <p:sp>
        <p:nvSpPr>
          <p:cNvPr id="6" name="">
            <a:extLst xmlns:a="http://schemas.openxmlformats.org/drawingml/2006/main">
              <a:ext uri="{FF2B5EF4-FFF2-40B4-BE49-F238E27FC236}">
                <a16:creationId xmlns:a16="http://schemas.microsoft.com/office/drawing/2014/main" id="{1DCFB060-E353-477F-A4C8-04794CC33CD8}"/>
              </a:ext>
            </a:extLst>
          </p:cNvPr>
          <p:cNvSpPr>
            <a:spLocks xmlns:a="http://schemas.openxmlformats.org/drawingml/2006/main" noGrp="1"/>
          </p:cNvSpPr>
          <p:nvPr/>
        </p:nvSpPr>
        <p:spPr>
          <a:xfrm xmlns:a="http://schemas.openxmlformats.org/drawingml/2006/main">
            <a:off x="8572500" y="38671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F4F7F4"/>
                </a:solidFill>
              </a:defRPr>
            </a:pPr>
            <a:r>
              <a:rPr sz="2400" b="1">
                <a:solidFill>
                  <a:srgbClr val="F4F7F4"/>
                </a:solidFill>
              </a:rPr>
              <a:t>KeeperHub executes</a:t>
            </a:r>
          </a:p>
        </p:txBody>
      </p:sp>
      <p:sp>
        <p:nvSpPr>
          <p:cNvPr id="7" name="">
            <a:extLst xmlns:a="http://schemas.openxmlformats.org/drawingml/2006/main">
              <a:ext uri="{FF2B5EF4-FFF2-40B4-BE49-F238E27FC236}">
                <a16:creationId xmlns:a16="http://schemas.microsoft.com/office/drawing/2014/main" id="{1F29B79F-F75F-466A-BB8C-BE0B08D6955B}"/>
              </a:ext>
            </a:extLst>
          </p:cNvPr>
          <p:cNvSpPr>
            <a:spLocks xmlns:a="http://schemas.openxmlformats.org/drawingml/2006/main" noGrp="1"/>
          </p:cNvSpPr>
          <p:nvPr/>
        </p:nvSpPr>
        <p:spPr>
          <a:xfrm xmlns:a="http://schemas.openxmlformats.org/drawingml/2006/main">
            <a:off x="895350" y="2571750"/>
            <a:ext cx="9715500" cy="0"/>
          </a:xfrm>
          <a:prstGeom xmlns:a="http://schemas.openxmlformats.org/drawingml/2006/main" prst="line">
            <a:avLst/>
          </a:prstGeom>
          <a:ln xmlns:a="http://schemas.openxmlformats.org/drawingml/2006/main" w="28575">
            <a:solidFill>
              <a:srgbClr val="45AFFF"/>
            </a:solidFill>
            <a:prstDash val="solid"/>
          </a:ln>
        </p:spPr>
      </p:sp>
      <p:sp>
        <p:nvSpPr>
          <p:cNvPr id="8" name="">
            <a:extLst xmlns:a="http://schemas.openxmlformats.org/drawingml/2006/main">
              <a:ext uri="{FF2B5EF4-FFF2-40B4-BE49-F238E27FC236}">
                <a16:creationId xmlns:a16="http://schemas.microsoft.com/office/drawing/2014/main" id="{2C6D2B11-8960-4367-80C5-554C2681154A}"/>
              </a:ext>
            </a:extLst>
          </p:cNvPr>
          <p:cNvSpPr>
            <a:spLocks xmlns:a="http://schemas.openxmlformats.org/drawingml/2006/main" noGrp="1"/>
          </p:cNvSpPr>
          <p:nvPr/>
        </p:nvSpPr>
        <p:spPr>
          <a:xfrm xmlns:a="http://schemas.openxmlformats.org/drawingml/2006/main">
            <a:off x="685800" y="4800600"/>
            <a:ext cx="695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C8FF3D"/>
                </a:solidFill>
              </a:defRPr>
            </a:pPr>
            <a:r>
              <a:rPr sz="3600" b="1">
                <a:solidFill>
                  <a:srgbClr val="C8FF3D"/>
                </a:solidFill>
              </a:rPr>
              <a:t>Proof closes the tab.</a:t>
            </a:r>
          </a:p>
        </p:txBody>
      </p:sp>
      <p:sp>
        <p:nvSpPr>
          <p:cNvPr id="9" name="">
            <a:extLst xmlns:a="http://schemas.openxmlformats.org/drawingml/2006/main">
              <a:ext uri="{FF2B5EF4-FFF2-40B4-BE49-F238E27FC236}">
                <a16:creationId xmlns:a16="http://schemas.microsoft.com/office/drawing/2014/main" id="{5C645C80-396A-4433-AE0D-BBBF0557F483}"/>
              </a:ext>
            </a:extLst>
          </p:cNvPr>
          <p:cNvSpPr>
            <a:spLocks xmlns:a="http://schemas.openxmlformats.org/drawingml/2006/main" noGrp="1"/>
          </p:cNvSpPr>
          <p:nvPr/>
        </p:nvSpPr>
        <p:spPr>
          <a:xfrm xmlns:a="http://schemas.openxmlformats.org/drawingml/2006/main">
            <a:off x="685800" y="5657850"/>
            <a:ext cx="838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A5B0A8"/>
                </a:solidFill>
              </a:defRPr>
            </a:pPr>
            <a:r>
              <a:rPr sz="1425" b="0">
                <a:solidFill>
                  <a:srgbClr val="A5B0A8"/>
                </a:solidFill>
              </a:rPr>
              <a:t>Testnet today. Honest boundaries. A reusable rail for expense, treasury and agent workflows.</a:t>
            </a:r>
          </a:p>
        </p:txBody>
      </p:sp>
      <p:sp>
        <p:nvSpPr>
          <p:cNvPr id="10" name="">
            <a:extLst xmlns:a="http://schemas.openxmlformats.org/drawingml/2006/main">
              <a:ext uri="{FF2B5EF4-FFF2-40B4-BE49-F238E27FC236}">
                <a16:creationId xmlns:a16="http://schemas.microsoft.com/office/drawing/2014/main" id="{DEC49F2A-D9F4-4C16-8451-108C08660374}"/>
              </a:ext>
            </a:extLst>
          </p:cNvPr>
          <p:cNvSpPr>
            <a:spLocks xmlns:a="http://schemas.openxmlformats.org/drawingml/2006/main" noGrp="1"/>
          </p:cNvSpPr>
          <p:nvPr/>
        </p:nvSpPr>
        <p:spPr>
          <a:xfrm xmlns:a="http://schemas.openxmlformats.org/drawingml/2006/main">
            <a:off x="8858250" y="5219700"/>
            <a:ext cx="276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45AFFF"/>
                </a:solidFill>
              </a:defRPr>
            </a:pPr>
            <a:r>
              <a:rPr sz="1350" b="1">
                <a:solidFill>
                  <a:srgbClr val="45AFFF"/>
                </a:solidFill>
              </a:rPr>
              <a:t>finaltab.vercel.app</a:t>
            </a:r>
          </a:p>
          <a:p xmlns:a="http://schemas.openxmlformats.org/drawingml/2006/main">
            <a:pPr algn="r">
              <a:defRPr sz="1350" b="1">
                <a:solidFill>
                  <a:srgbClr val="45AFFF"/>
                </a:solidFill>
              </a:defRPr>
            </a:pPr>
            <a:r>
              <a:rPr sz="1350" b="1">
                <a:solidFill>
                  <a:srgbClr val="45AFFF"/>
                </a:solidFill>
              </a:rPr>
              <a:t>github.com/vaibhav4046/finaltab</a:t>
            </a:r>
          </a:p>
        </p:txBody>
      </p:sp>
      <p:sp>
        <p:nvSpPr>
          <p:cNvPr id="11" name="">
            <a:extLst xmlns:a="http://schemas.openxmlformats.org/drawingml/2006/main">
              <a:ext uri="{FF2B5EF4-FFF2-40B4-BE49-F238E27FC236}">
                <a16:creationId xmlns:a16="http://schemas.microsoft.com/office/drawing/2014/main" id="{80AAAA9F-771B-486E-90AC-BA0F3DDDCC30}"/>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A5B0A8"/>
                </a:solidFill>
              </a:defRPr>
            </a:pPr>
            <a:r>
              <a:rPr sz="825" b="0">
                <a:solidFill>
                  <a:srgbClr val="A5B0A8"/>
                </a:solidFill>
              </a:rPr>
              <a:t>FINALTab  •  KeeperHub Agents Onchain</a:t>
            </a:r>
          </a:p>
        </p:txBody>
      </p:sp>
      <p:sp>
        <p:nvSpPr>
          <p:cNvPr id="12" name="">
            <a:extLst xmlns:a="http://schemas.openxmlformats.org/drawingml/2006/main">
              <a:ext uri="{FF2B5EF4-FFF2-40B4-BE49-F238E27FC236}">
                <a16:creationId xmlns:a16="http://schemas.microsoft.com/office/drawing/2014/main" id="{4867C378-A525-42C5-A336-05ADBF18FB31}"/>
              </a:ext>
            </a:extLst>
          </p:cNvPr>
          <p:cNvSpPr>
            <a:spLocks xmlns:a="http://schemas.openxmlformats.org/drawingml/2006/main" noGrp="1"/>
          </p:cNvSpPr>
          <p:nvPr/>
        </p:nvSpPr>
        <p:spPr>
          <a:xfrm xmlns:a="http://schemas.openxmlformats.org/drawingml/2006/main">
            <a:off x="11144250" y="65151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A5B0A8"/>
                </a:solidFill>
              </a:defRPr>
            </a:pPr>
            <a:r>
              <a:rPr sz="825" b="1">
                <a:solidFill>
                  <a:srgbClr val="A5B0A8"/>
                </a:solidFill>
              </a:rPr>
              <a:t>08</a:t>
            </a:r>
          </a:p>
        </p:txBody>
      </p:sp>
    </p:spTree>
    <p:extLst>
      <p:ext uri="{BB962C8B-B14F-4D97-AF65-F5344CB8AC3E}">
        <p14:creationId xmlns:p14="http://schemas.microsoft.com/office/powerpoint/2010/main" val="9967149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2026-08-12T07:45:55.7260000Z</dcterms:created>
  <dcterms:modified xsi:type="dcterms:W3CDTF">2026-08-12T07:45:55.7270000Z</dcterms:modified>
</coreProperties>
</file>